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274320" y="457200"/>
            <a:ext cx="5029200" cy="3657600"/>
          </a:xfrm>
          <a:prstGeom prst="rect">
            <a:avLst/>
          </a:prstGeom>
          <a:solidFill>
            <a:srgbClr val="F7F9FB"/>
          </a:solidFill>
          <a:ln w="12700">
            <a:solidFill>
              <a:srgbClr val="F7F9FB"/>
            </a:solidFill>
            <a:prstDash val="solid"/>
          </a:ln>
        </p:spPr>
        <p:txBody>
          <a:bodyPr/>
          <a:p/>
        </p:txBody>
      </p:sp>
      <p:sp>
        <p:nvSpPr>
          <p:cNvPr id="3" name="Text 1"/>
          <p:cNvSpPr/>
          <p:nvPr/>
        </p:nvSpPr>
        <p:spPr>
          <a:xfrm>
            <a:off x="365760" y="1280160"/>
            <a:ext cx="4754880" cy="2286000"/>
          </a:xfrm>
          <a:prstGeom prst="rect">
            <a:avLst/>
          </a:prstGeom>
          <a:noFill/>
          <a:ln/>
        </p:spPr>
        <p:txBody>
          <a:bodyPr wrap="square" rtlCol="0" anchor="ctr"/>
          <a:lstStyle/>
          <a:p>
            <a:pPr algn="l" indent="0" marL="0">
              <a:buNone/>
            </a:pPr>
            <a:r>
              <a:rPr lang="en-US" sz="3200" b="1" dirty="0">
                <a:solidFill>
                  <a:srgbClr val="083D77"/>
                </a:solidFill>
                <a:latin typeface="Arial" pitchFamily="34" charset="0"/>
                <a:ea typeface="Arial" pitchFamily="34" charset="-122"/>
                <a:cs typeface="Arial" pitchFamily="34" charset="-120"/>
              </a:rPr>
              <a:t>Java/Seasar2
単体テスト導入方針概要
</a:t>
            </a:r>
            <a:pPr algn="l" indent="0" marL="0">
              <a:buNone/>
            </a:pPr>
            <a:r>
              <a:rPr lang="en-US" sz="1800" i="1" dirty="0">
                <a:solidFill>
                  <a:srgbClr val="00A7E1"/>
                </a:solidFill>
                <a:latin typeface="Arial" pitchFamily="34" charset="0"/>
                <a:ea typeface="Arial" pitchFamily="34" charset="-122"/>
                <a:cs typeface="Arial" pitchFamily="34" charset="-120"/>
              </a:rPr>
              <a:t>品質向上とAI活用に向けて</a:t>
            </a:r>
            <a:endParaRPr lang="en-US" sz="3200" dirty="0"/>
          </a:p>
        </p:txBody>
      </p:sp>
      <p:sp>
        <p:nvSpPr>
          <p:cNvPr id="4" name="Text 2"/>
          <p:cNvSpPr/>
          <p:nvPr/>
        </p:nvSpPr>
        <p:spPr>
          <a:xfrm>
            <a:off x="365760" y="4023360"/>
            <a:ext cx="4754880" cy="457200"/>
          </a:xfrm>
          <a:prstGeom prst="rect">
            <a:avLst/>
          </a:prstGeom>
          <a:noFill/>
          <a:ln/>
        </p:spPr>
        <p:txBody>
          <a:bodyPr wrap="square" rtlCol="0" anchor="ctr"/>
          <a:lstStyle/>
          <a:p>
            <a:pPr indent="0" marL="0">
              <a:buNone/>
            </a:pPr>
            <a:r>
              <a:rPr lang="en-US" sz="1200" i="1" dirty="0">
                <a:solidFill>
                  <a:srgbClr val="666666"/>
                </a:solidFill>
              </a:rPr>
              <a:t>テスト導入方針の概要をわかりやすく整理</a:t>
            </a:r>
            <a:endParaRPr lang="en-US" sz="1200" dirty="0"/>
          </a:p>
        </p:txBody>
      </p:sp>
      <p:sp>
        <p:nvSpPr>
          <p:cNvPr id="5" name="Shape 3"/>
          <p:cNvSpPr/>
          <p:nvPr/>
        </p:nvSpPr>
        <p:spPr>
          <a:xfrm>
            <a:off x="5486400" y="457200"/>
            <a:ext cx="3383280" cy="3840480"/>
          </a:xfrm>
          <a:prstGeom prst="rect">
            <a:avLst/>
          </a:prstGeom>
          <a:solidFill>
            <a:srgbClr val="F4D35E"/>
          </a:solidFill>
          <a:ln w="12700">
            <a:solidFill>
              <a:srgbClr val="F4D35E"/>
            </a:solidFill>
            <a:prstDash val="solid"/>
          </a:ln>
        </p:spPr>
        <p:txBody>
          <a:bodyPr/>
          <a:p/>
        </p:txBody>
      </p:sp>
      <p:pic>
        <p:nvPicPr>
          <p:cNvPr id="6" name="Image 0" descr="preencoded.png">    </p:cNvPr>
          <p:cNvPicPr>
            <a:picLocks noChangeAspect="1"/>
          </p:cNvPicPr>
          <p:nvPr/>
        </p:nvPicPr>
        <p:blipFill>
          <a:blip r:embed="rId1"/>
          <a:stretch>
            <a:fillRect/>
          </a:stretch>
        </p:blipFill>
        <p:spPr>
          <a:xfrm>
            <a:off x="6583680" y="1645920"/>
            <a:ext cx="1371600" cy="1371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365760" y="274320"/>
            <a:ext cx="8229600" cy="731520"/>
          </a:xfrm>
          <a:prstGeom prst="rect">
            <a:avLst/>
          </a:prstGeom>
          <a:noFill/>
          <a:ln/>
        </p:spPr>
        <p:txBody>
          <a:bodyPr wrap="square" rtlCol="0" anchor="ctr"/>
          <a:lstStyle/>
          <a:p>
            <a:pPr indent="0" marL="0">
              <a:buNone/>
            </a:pPr>
            <a:r>
              <a:rPr lang="en-US" sz="2800" b="1" dirty="0">
                <a:solidFill>
                  <a:srgbClr val="083D77"/>
                </a:solidFill>
              </a:rPr>
              <a:t>目次</a:t>
            </a:r>
            <a:endParaRPr lang="en-US" sz="2800" dirty="0"/>
          </a:p>
        </p:txBody>
      </p:sp>
      <p:sp>
        <p:nvSpPr>
          <p:cNvPr id="3" name="Text 1"/>
          <p:cNvSpPr/>
          <p:nvPr/>
        </p:nvSpPr>
        <p:spPr>
          <a:xfrm>
            <a:off x="548640" y="1188720"/>
            <a:ext cx="5943600" cy="457200"/>
          </a:xfrm>
          <a:prstGeom prst="rect">
            <a:avLst/>
          </a:prstGeom>
          <a:noFill/>
          <a:ln/>
        </p:spPr>
        <p:txBody>
          <a:bodyPr wrap="square" rtlCol="0" anchor="ctr"/>
          <a:lstStyle/>
          <a:p>
            <a:pPr algn="l"/>
            <a:r>
              <a:rPr lang="en-US" sz="1600" b="1" dirty="0">
                <a:solidFill>
                  <a:srgbClr val="00A7E1"/>
                </a:solidFill>
              </a:rPr>
              <a:t>1. </a:t>
            </a:r>
            <a:pPr algn="l" indent="0" marL="0">
              <a:buNone/>
            </a:pPr>
            <a:r>
              <a:rPr lang="en-US" sz="1600" dirty="0">
                <a:solidFill>
                  <a:srgbClr val="333333"/>
                </a:solidFill>
              </a:rPr>
              <a:t>背景・目的</a:t>
            </a:r>
            <a:endParaRPr lang="en-US" sz="1600" dirty="0"/>
          </a:p>
        </p:txBody>
      </p:sp>
      <p:sp>
        <p:nvSpPr>
          <p:cNvPr id="4" name="Text 2"/>
          <p:cNvSpPr/>
          <p:nvPr/>
        </p:nvSpPr>
        <p:spPr>
          <a:xfrm>
            <a:off x="548640" y="1645920"/>
            <a:ext cx="5943600" cy="457200"/>
          </a:xfrm>
          <a:prstGeom prst="rect">
            <a:avLst/>
          </a:prstGeom>
          <a:noFill/>
          <a:ln/>
        </p:spPr>
        <p:txBody>
          <a:bodyPr wrap="square" rtlCol="0" anchor="ctr"/>
          <a:lstStyle/>
          <a:p>
            <a:pPr algn="l"/>
            <a:r>
              <a:rPr lang="en-US" sz="1600" b="1" dirty="0">
                <a:solidFill>
                  <a:srgbClr val="00A7E1"/>
                </a:solidFill>
              </a:rPr>
              <a:t>2. </a:t>
            </a:r>
            <a:pPr algn="l" indent="0" marL="0">
              <a:buNone/>
            </a:pPr>
            <a:r>
              <a:rPr lang="en-US" sz="1600" dirty="0">
                <a:solidFill>
                  <a:srgbClr val="333333"/>
                </a:solidFill>
              </a:rPr>
              <a:t>技術・ツール</a:t>
            </a:r>
            <a:endParaRPr lang="en-US" sz="1600" dirty="0"/>
          </a:p>
        </p:txBody>
      </p:sp>
      <p:sp>
        <p:nvSpPr>
          <p:cNvPr id="5" name="Text 3"/>
          <p:cNvSpPr/>
          <p:nvPr/>
        </p:nvSpPr>
        <p:spPr>
          <a:xfrm>
            <a:off x="548640" y="2103120"/>
            <a:ext cx="5943600" cy="457200"/>
          </a:xfrm>
          <a:prstGeom prst="rect">
            <a:avLst/>
          </a:prstGeom>
          <a:noFill/>
          <a:ln/>
        </p:spPr>
        <p:txBody>
          <a:bodyPr wrap="square" rtlCol="0" anchor="ctr"/>
          <a:lstStyle/>
          <a:p>
            <a:pPr algn="l"/>
            <a:r>
              <a:rPr lang="en-US" sz="1600" b="1" dirty="0">
                <a:solidFill>
                  <a:srgbClr val="00A7E1"/>
                </a:solidFill>
              </a:rPr>
              <a:t>3. </a:t>
            </a:r>
            <a:pPr algn="l" indent="0" marL="0">
              <a:buNone/>
            </a:pPr>
            <a:r>
              <a:rPr lang="en-US" sz="1600" dirty="0">
                <a:solidFill>
                  <a:srgbClr val="333333"/>
                </a:solidFill>
              </a:rPr>
              <a:t>テスト対象方針</a:t>
            </a:r>
            <a:endParaRPr lang="en-US" sz="1600" dirty="0"/>
          </a:p>
        </p:txBody>
      </p:sp>
      <p:sp>
        <p:nvSpPr>
          <p:cNvPr id="6" name="Text 4"/>
          <p:cNvSpPr/>
          <p:nvPr/>
        </p:nvSpPr>
        <p:spPr>
          <a:xfrm>
            <a:off x="548640" y="2560320"/>
            <a:ext cx="5943600" cy="457200"/>
          </a:xfrm>
          <a:prstGeom prst="rect">
            <a:avLst/>
          </a:prstGeom>
          <a:noFill/>
          <a:ln/>
        </p:spPr>
        <p:txBody>
          <a:bodyPr wrap="square" rtlCol="0" anchor="ctr"/>
          <a:lstStyle/>
          <a:p>
            <a:pPr algn="l"/>
            <a:r>
              <a:rPr lang="en-US" sz="1600" b="1" dirty="0">
                <a:solidFill>
                  <a:srgbClr val="00A7E1"/>
                </a:solidFill>
              </a:rPr>
              <a:t>4. </a:t>
            </a:r>
            <a:pPr algn="l" indent="0" marL="0">
              <a:buNone/>
            </a:pPr>
            <a:r>
              <a:rPr lang="en-US" sz="1600" dirty="0">
                <a:solidFill>
                  <a:srgbClr val="333333"/>
                </a:solidFill>
              </a:rPr>
              <a:t>テストデータと規約</a:t>
            </a:r>
            <a:endParaRPr lang="en-US" sz="1600" dirty="0"/>
          </a:p>
        </p:txBody>
      </p:sp>
      <p:sp>
        <p:nvSpPr>
          <p:cNvPr id="7" name="Text 5"/>
          <p:cNvSpPr/>
          <p:nvPr/>
        </p:nvSpPr>
        <p:spPr>
          <a:xfrm>
            <a:off x="548640" y="3017520"/>
            <a:ext cx="5943600" cy="457200"/>
          </a:xfrm>
          <a:prstGeom prst="rect">
            <a:avLst/>
          </a:prstGeom>
          <a:noFill/>
          <a:ln/>
        </p:spPr>
        <p:txBody>
          <a:bodyPr wrap="square" rtlCol="0" anchor="ctr"/>
          <a:lstStyle/>
          <a:p>
            <a:pPr algn="l"/>
            <a:r>
              <a:rPr lang="en-US" sz="1600" b="1" dirty="0">
                <a:solidFill>
                  <a:srgbClr val="00A7E1"/>
                </a:solidFill>
              </a:rPr>
              <a:t>5. </a:t>
            </a:r>
            <a:pPr algn="l" indent="0" marL="0">
              <a:buNone/>
            </a:pPr>
            <a:r>
              <a:rPr lang="en-US" sz="1600" dirty="0">
                <a:solidFill>
                  <a:srgbClr val="333333"/>
                </a:solidFill>
              </a:rPr>
              <a:t>H2とCI活用</a:t>
            </a:r>
            <a:endParaRPr lang="en-US" sz="1600" dirty="0"/>
          </a:p>
        </p:txBody>
      </p:sp>
      <p:sp>
        <p:nvSpPr>
          <p:cNvPr id="8" name="Text 6"/>
          <p:cNvSpPr/>
          <p:nvPr/>
        </p:nvSpPr>
        <p:spPr>
          <a:xfrm>
            <a:off x="548640" y="3474720"/>
            <a:ext cx="5943600" cy="457200"/>
          </a:xfrm>
          <a:prstGeom prst="rect">
            <a:avLst/>
          </a:prstGeom>
          <a:noFill/>
          <a:ln/>
        </p:spPr>
        <p:txBody>
          <a:bodyPr wrap="square" rtlCol="0" anchor="ctr"/>
          <a:lstStyle/>
          <a:p>
            <a:pPr algn="l"/>
            <a:r>
              <a:rPr lang="en-US" sz="1600" b="1" dirty="0">
                <a:solidFill>
                  <a:srgbClr val="00A7E1"/>
                </a:solidFill>
              </a:rPr>
              <a:t>6. </a:t>
            </a:r>
            <a:pPr algn="l" indent="0" marL="0">
              <a:buNone/>
            </a:pPr>
            <a:r>
              <a:rPr lang="en-US" sz="1600" dirty="0">
                <a:solidFill>
                  <a:srgbClr val="333333"/>
                </a:solidFill>
              </a:rPr>
              <a:t>導入ステップ</a:t>
            </a:r>
            <a:endParaRPr lang="en-US" sz="1600" dirty="0"/>
          </a:p>
        </p:txBody>
      </p:sp>
      <p:sp>
        <p:nvSpPr>
          <p:cNvPr id="9" name="Text 7"/>
          <p:cNvSpPr/>
          <p:nvPr/>
        </p:nvSpPr>
        <p:spPr>
          <a:xfrm>
            <a:off x="548640" y="3931920"/>
            <a:ext cx="5943600" cy="457200"/>
          </a:xfrm>
          <a:prstGeom prst="rect">
            <a:avLst/>
          </a:prstGeom>
          <a:noFill/>
          <a:ln/>
        </p:spPr>
        <p:txBody>
          <a:bodyPr wrap="square" rtlCol="0" anchor="ctr"/>
          <a:lstStyle/>
          <a:p>
            <a:pPr algn="l"/>
            <a:r>
              <a:rPr lang="en-US" sz="1600" b="1" dirty="0">
                <a:solidFill>
                  <a:srgbClr val="00A7E1"/>
                </a:solidFill>
              </a:rPr>
              <a:t>7. </a:t>
            </a:r>
            <a:pPr algn="l" indent="0" marL="0">
              <a:buNone/>
            </a:pPr>
            <a:r>
              <a:rPr lang="en-US" sz="1600" dirty="0">
                <a:solidFill>
                  <a:srgbClr val="333333"/>
                </a:solidFill>
              </a:rPr>
              <a:t>AI向けプロンプト</a:t>
            </a:r>
            <a:endParaRPr lang="en-US" sz="1600" dirty="0"/>
          </a:p>
        </p:txBody>
      </p:sp>
      <p:sp>
        <p:nvSpPr>
          <p:cNvPr id="10" name="Text 8"/>
          <p:cNvSpPr/>
          <p:nvPr/>
        </p:nvSpPr>
        <p:spPr>
          <a:xfrm>
            <a:off x="548640" y="4389120"/>
            <a:ext cx="5943600" cy="457200"/>
          </a:xfrm>
          <a:prstGeom prst="rect">
            <a:avLst/>
          </a:prstGeom>
          <a:noFill/>
          <a:ln/>
        </p:spPr>
        <p:txBody>
          <a:bodyPr wrap="square" rtlCol="0" anchor="ctr"/>
          <a:lstStyle/>
          <a:p>
            <a:pPr algn="l"/>
            <a:r>
              <a:rPr lang="en-US" sz="1600" b="1" dirty="0">
                <a:solidFill>
                  <a:srgbClr val="00A7E1"/>
                </a:solidFill>
              </a:rPr>
              <a:t>8. </a:t>
            </a:r>
            <a:pPr algn="l" indent="0" marL="0">
              <a:buNone/>
            </a:pPr>
            <a:r>
              <a:rPr lang="en-US" sz="1600" dirty="0">
                <a:solidFill>
                  <a:srgbClr val="333333"/>
                </a:solidFill>
              </a:rPr>
              <a:t>まとめ</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365760" y="274320"/>
            <a:ext cx="8229600" cy="548640"/>
          </a:xfrm>
          <a:prstGeom prst="rect">
            <a:avLst/>
          </a:prstGeom>
          <a:noFill/>
          <a:ln/>
        </p:spPr>
        <p:txBody>
          <a:bodyPr wrap="square" rtlCol="0" anchor="ctr"/>
          <a:lstStyle/>
          <a:p>
            <a:pPr indent="0" marL="0">
              <a:buNone/>
            </a:pPr>
            <a:r>
              <a:rPr lang="en-US" sz="2400" b="1" dirty="0">
                <a:solidFill>
                  <a:srgbClr val="083D77"/>
                </a:solidFill>
              </a:rPr>
              <a:t>背景・目的</a:t>
            </a:r>
            <a:endParaRPr lang="en-US" sz="2400" dirty="0"/>
          </a:p>
        </p:txBody>
      </p:sp>
      <p:pic>
        <p:nvPicPr>
          <p:cNvPr id="3" name="Image 0" descr="preencoded.png">    </p:cNvPr>
          <p:cNvPicPr>
            <a:picLocks noChangeAspect="1"/>
          </p:cNvPicPr>
          <p:nvPr/>
        </p:nvPicPr>
        <p:blipFill>
          <a:blip r:embed="rId1"/>
          <a:stretch>
            <a:fillRect/>
          </a:stretch>
        </p:blipFill>
        <p:spPr>
          <a:xfrm>
            <a:off x="365760" y="1005840"/>
            <a:ext cx="457200" cy="457200"/>
          </a:xfrm>
          <a:prstGeom prst="rect">
            <a:avLst/>
          </a:prstGeom>
        </p:spPr>
      </p:pic>
      <p:sp>
        <p:nvSpPr>
          <p:cNvPr id="4" name="Text 1"/>
          <p:cNvSpPr/>
          <p:nvPr/>
        </p:nvSpPr>
        <p:spPr>
          <a:xfrm>
            <a:off x="1005840" y="914400"/>
            <a:ext cx="7772400" cy="1828800"/>
          </a:xfrm>
          <a:prstGeom prst="rect">
            <a:avLst/>
          </a:prstGeom>
          <a:noFill/>
          <a:ln/>
        </p:spPr>
        <p:txBody>
          <a:bodyPr wrap="square" rtlCol="0" anchor="ctr"/>
          <a:lstStyle/>
          <a:p>
            <a:pPr algn="l" indent="0" marL="0">
              <a:buNone/>
            </a:pPr>
            <a:r>
              <a:rPr lang="en-US" sz="1600" b="1" dirty="0">
                <a:solidFill>
                  <a:srgbClr val="333333"/>
                </a:solidFill>
              </a:rPr>
              <a:t>レガシープロジェクトに単体テストが不足しており、品質リスクが高い
</a:t>
            </a:r>
            <a:pPr algn="l" indent="0" marL="0">
              <a:buNone/>
            </a:pPr>
            <a:r>
              <a:rPr lang="en-US" sz="1400" dirty="0">
                <a:solidFill>
                  <a:srgbClr val="333333"/>
                </a:solidFill>
              </a:rPr>
              <a:t>品質向上とリファクタリングを安全に行うために統一された方針が必要
</a:t>
            </a:r>
            <a:pPr algn="l" indent="0" marL="0">
              <a:buNone/>
            </a:pPr>
            <a:r>
              <a:rPr lang="en-US" sz="1400" dirty="0">
                <a:solidFill>
                  <a:srgbClr val="333333"/>
                </a:solidFill>
              </a:rPr>
              <a:t>開発チーム・上長・AIエージェントが共通のルールを共有すること</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365760" y="274320"/>
            <a:ext cx="8229600" cy="548640"/>
          </a:xfrm>
          <a:prstGeom prst="rect">
            <a:avLst/>
          </a:prstGeom>
          <a:noFill/>
          <a:ln/>
        </p:spPr>
        <p:txBody>
          <a:bodyPr wrap="square" rtlCol="0" anchor="ctr"/>
          <a:lstStyle/>
          <a:p>
            <a:pPr indent="0" marL="0">
              <a:buNone/>
            </a:pPr>
            <a:r>
              <a:rPr lang="en-US" sz="2400" b="1" dirty="0">
                <a:solidFill>
                  <a:srgbClr val="083D77"/>
                </a:solidFill>
              </a:rPr>
              <a:t>技術・ツール</a:t>
            </a:r>
            <a:endParaRPr lang="en-US" sz="2400" dirty="0"/>
          </a:p>
        </p:txBody>
      </p:sp>
      <p:pic>
        <p:nvPicPr>
          <p:cNvPr id="3" name="Image 0" descr="preencoded.png">    </p:cNvPr>
          <p:cNvPicPr>
            <a:picLocks noChangeAspect="1"/>
          </p:cNvPicPr>
          <p:nvPr/>
        </p:nvPicPr>
        <p:blipFill>
          <a:blip r:embed="rId1"/>
          <a:stretch>
            <a:fillRect/>
          </a:stretch>
        </p:blipFill>
        <p:spPr>
          <a:xfrm>
            <a:off x="365760" y="960120"/>
            <a:ext cx="365760" cy="365760"/>
          </a:xfrm>
          <a:prstGeom prst="rect">
            <a:avLst/>
          </a:prstGeom>
        </p:spPr>
      </p:pic>
      <p:sp>
        <p:nvSpPr>
          <p:cNvPr id="4" name="Text 1"/>
          <p:cNvSpPr/>
          <p:nvPr/>
        </p:nvSpPr>
        <p:spPr>
          <a:xfrm>
            <a:off x="822960" y="914400"/>
            <a:ext cx="3657600" cy="457200"/>
          </a:xfrm>
          <a:prstGeom prst="rect">
            <a:avLst/>
          </a:prstGeom>
          <a:noFill/>
          <a:ln/>
        </p:spPr>
        <p:txBody>
          <a:bodyPr wrap="square" rtlCol="0" anchor="ctr"/>
          <a:lstStyle/>
          <a:p>
            <a:pPr indent="0" marL="0">
              <a:buNone/>
            </a:pPr>
            <a:r>
              <a:rPr lang="en-US" sz="1400" dirty="0">
                <a:solidFill>
                  <a:srgbClr val="333333"/>
                </a:solidFill>
              </a:rPr>
              <a:t>Java 8 &amp; Seasar2</a:t>
            </a:r>
            <a:endParaRPr lang="en-US" sz="1400" dirty="0"/>
          </a:p>
        </p:txBody>
      </p:sp>
      <p:pic>
        <p:nvPicPr>
          <p:cNvPr id="5" name="Image 1" descr="preencoded.png">    </p:cNvPr>
          <p:cNvPicPr>
            <a:picLocks noChangeAspect="1"/>
          </p:cNvPicPr>
          <p:nvPr/>
        </p:nvPicPr>
        <p:blipFill>
          <a:blip r:embed="rId2"/>
          <a:stretch>
            <a:fillRect/>
          </a:stretch>
        </p:blipFill>
        <p:spPr>
          <a:xfrm>
            <a:off x="365760" y="1371600"/>
            <a:ext cx="365760" cy="365760"/>
          </a:xfrm>
          <a:prstGeom prst="rect">
            <a:avLst/>
          </a:prstGeom>
        </p:spPr>
      </p:pic>
      <p:sp>
        <p:nvSpPr>
          <p:cNvPr id="6" name="Text 2"/>
          <p:cNvSpPr/>
          <p:nvPr/>
        </p:nvSpPr>
        <p:spPr>
          <a:xfrm>
            <a:off x="822960" y="1325880"/>
            <a:ext cx="3657600" cy="457200"/>
          </a:xfrm>
          <a:prstGeom prst="rect">
            <a:avLst/>
          </a:prstGeom>
          <a:noFill/>
          <a:ln/>
        </p:spPr>
        <p:txBody>
          <a:bodyPr wrap="square" rtlCol="0" anchor="ctr"/>
          <a:lstStyle/>
          <a:p>
            <a:pPr indent="0" marL="0">
              <a:buNone/>
            </a:pPr>
            <a:r>
              <a:rPr lang="en-US" sz="1400" dirty="0">
                <a:solidFill>
                  <a:srgbClr val="333333"/>
                </a:solidFill>
              </a:rPr>
              <a:t>JUnit4 / S2Junit</a:t>
            </a:r>
            <a:endParaRPr lang="en-US" sz="1400" dirty="0"/>
          </a:p>
        </p:txBody>
      </p:sp>
      <p:pic>
        <p:nvPicPr>
          <p:cNvPr id="7" name="Image 2" descr="preencoded.png">    </p:cNvPr>
          <p:cNvPicPr>
            <a:picLocks noChangeAspect="1"/>
          </p:cNvPicPr>
          <p:nvPr/>
        </p:nvPicPr>
        <p:blipFill>
          <a:blip r:embed="rId3"/>
          <a:stretch>
            <a:fillRect/>
          </a:stretch>
        </p:blipFill>
        <p:spPr>
          <a:xfrm>
            <a:off x="365760" y="1783080"/>
            <a:ext cx="365760" cy="365760"/>
          </a:xfrm>
          <a:prstGeom prst="rect">
            <a:avLst/>
          </a:prstGeom>
        </p:spPr>
      </p:pic>
      <p:sp>
        <p:nvSpPr>
          <p:cNvPr id="8" name="Text 3"/>
          <p:cNvSpPr/>
          <p:nvPr/>
        </p:nvSpPr>
        <p:spPr>
          <a:xfrm>
            <a:off x="822960" y="1737360"/>
            <a:ext cx="3657600" cy="457200"/>
          </a:xfrm>
          <a:prstGeom prst="rect">
            <a:avLst/>
          </a:prstGeom>
          <a:noFill/>
          <a:ln/>
        </p:spPr>
        <p:txBody>
          <a:bodyPr wrap="square" rtlCol="0" anchor="ctr"/>
          <a:lstStyle/>
          <a:p>
            <a:pPr indent="0" marL="0">
              <a:buNone/>
            </a:pPr>
            <a:r>
              <a:rPr lang="en-US" sz="1400" dirty="0">
                <a:solidFill>
                  <a:srgbClr val="333333"/>
                </a:solidFill>
              </a:rPr>
              <a:t>H2 インメモリDB</a:t>
            </a:r>
            <a:endParaRPr lang="en-US" sz="1400" dirty="0"/>
          </a:p>
        </p:txBody>
      </p:sp>
      <p:pic>
        <p:nvPicPr>
          <p:cNvPr id="9" name="Image 3" descr="preencoded.png">    </p:cNvPr>
          <p:cNvPicPr>
            <a:picLocks noChangeAspect="1"/>
          </p:cNvPicPr>
          <p:nvPr/>
        </p:nvPicPr>
        <p:blipFill>
          <a:blip r:embed="rId4"/>
          <a:stretch>
            <a:fillRect/>
          </a:stretch>
        </p:blipFill>
        <p:spPr>
          <a:xfrm>
            <a:off x="365760" y="2194560"/>
            <a:ext cx="365760" cy="365760"/>
          </a:xfrm>
          <a:prstGeom prst="rect">
            <a:avLst/>
          </a:prstGeom>
        </p:spPr>
      </p:pic>
      <p:sp>
        <p:nvSpPr>
          <p:cNvPr id="10" name="Text 4"/>
          <p:cNvSpPr/>
          <p:nvPr/>
        </p:nvSpPr>
        <p:spPr>
          <a:xfrm>
            <a:off x="822960" y="2148840"/>
            <a:ext cx="3657600" cy="457200"/>
          </a:xfrm>
          <a:prstGeom prst="rect">
            <a:avLst/>
          </a:prstGeom>
          <a:noFill/>
          <a:ln/>
        </p:spPr>
        <p:txBody>
          <a:bodyPr wrap="square" rtlCol="0" anchor="ctr"/>
          <a:lstStyle/>
          <a:p>
            <a:pPr indent="0" marL="0">
              <a:buNone/>
            </a:pPr>
            <a:r>
              <a:rPr lang="en-US" sz="1400" dirty="0">
                <a:solidFill>
                  <a:srgbClr val="333333"/>
                </a:solidFill>
              </a:rPr>
              <a:t>EasyMock</a:t>
            </a:r>
            <a:endParaRPr lang="en-US" sz="1400" dirty="0"/>
          </a:p>
        </p:txBody>
      </p:sp>
      <p:pic>
        <p:nvPicPr>
          <p:cNvPr id="11" name="Image 4" descr="preencoded.png">    </p:cNvPr>
          <p:cNvPicPr>
            <a:picLocks noChangeAspect="1"/>
          </p:cNvPicPr>
          <p:nvPr/>
        </p:nvPicPr>
        <p:blipFill>
          <a:blip r:embed="rId5"/>
          <a:stretch>
            <a:fillRect/>
          </a:stretch>
        </p:blipFill>
        <p:spPr>
          <a:xfrm>
            <a:off x="4754880" y="960120"/>
            <a:ext cx="365760" cy="365760"/>
          </a:xfrm>
          <a:prstGeom prst="rect">
            <a:avLst/>
          </a:prstGeom>
        </p:spPr>
      </p:pic>
      <p:sp>
        <p:nvSpPr>
          <p:cNvPr id="12" name="Text 5"/>
          <p:cNvSpPr/>
          <p:nvPr/>
        </p:nvSpPr>
        <p:spPr>
          <a:xfrm>
            <a:off x="5212080" y="914400"/>
            <a:ext cx="3657600" cy="457200"/>
          </a:xfrm>
          <a:prstGeom prst="rect">
            <a:avLst/>
          </a:prstGeom>
          <a:noFill/>
          <a:ln/>
        </p:spPr>
        <p:txBody>
          <a:bodyPr wrap="square" rtlCol="0" anchor="ctr"/>
          <a:lstStyle/>
          <a:p>
            <a:pPr indent="0" marL="0">
              <a:buNone/>
            </a:pPr>
            <a:r>
              <a:rPr lang="en-US" sz="1400" dirty="0">
                <a:solidFill>
                  <a:srgbClr val="333333"/>
                </a:solidFill>
              </a:rPr>
              <a:t>JUnit標準assert</a:t>
            </a:r>
            <a:endParaRPr lang="en-US" sz="1400" dirty="0"/>
          </a:p>
        </p:txBody>
      </p:sp>
      <p:pic>
        <p:nvPicPr>
          <p:cNvPr id="13" name="Image 5" descr="preencoded.png">    </p:cNvPr>
          <p:cNvPicPr>
            <a:picLocks noChangeAspect="1"/>
          </p:cNvPicPr>
          <p:nvPr/>
        </p:nvPicPr>
        <p:blipFill>
          <a:blip r:embed="rId6"/>
          <a:stretch>
            <a:fillRect/>
          </a:stretch>
        </p:blipFill>
        <p:spPr>
          <a:xfrm>
            <a:off x="4754880" y="1371600"/>
            <a:ext cx="365760" cy="365760"/>
          </a:xfrm>
          <a:prstGeom prst="rect">
            <a:avLst/>
          </a:prstGeom>
        </p:spPr>
      </p:pic>
      <p:sp>
        <p:nvSpPr>
          <p:cNvPr id="14" name="Text 6"/>
          <p:cNvSpPr/>
          <p:nvPr/>
        </p:nvSpPr>
        <p:spPr>
          <a:xfrm>
            <a:off x="5212080" y="1325880"/>
            <a:ext cx="3657600" cy="457200"/>
          </a:xfrm>
          <a:prstGeom prst="rect">
            <a:avLst/>
          </a:prstGeom>
          <a:noFill/>
          <a:ln/>
        </p:spPr>
        <p:txBody>
          <a:bodyPr wrap="square" rtlCol="0" anchor="ctr"/>
          <a:lstStyle/>
          <a:p>
            <a:pPr indent="0" marL="0">
              <a:buNone/>
            </a:pPr>
            <a:r>
              <a:rPr lang="en-US" sz="1400" dirty="0">
                <a:solidFill>
                  <a:srgbClr val="333333"/>
                </a:solidFill>
              </a:rPr>
              <a:t>TestDataBuilder / Fixture</a:t>
            </a:r>
            <a:endParaRPr lang="en-US" sz="1400" dirty="0"/>
          </a:p>
        </p:txBody>
      </p:sp>
      <p:pic>
        <p:nvPicPr>
          <p:cNvPr id="15" name="Image 6" descr="preencoded.png">    </p:cNvPr>
          <p:cNvPicPr>
            <a:picLocks noChangeAspect="1"/>
          </p:cNvPicPr>
          <p:nvPr/>
        </p:nvPicPr>
        <p:blipFill>
          <a:blip r:embed="rId7"/>
          <a:stretch>
            <a:fillRect/>
          </a:stretch>
        </p:blipFill>
        <p:spPr>
          <a:xfrm>
            <a:off x="4754880" y="1783080"/>
            <a:ext cx="365760" cy="365760"/>
          </a:xfrm>
          <a:prstGeom prst="rect">
            <a:avLst/>
          </a:prstGeom>
        </p:spPr>
      </p:pic>
      <p:sp>
        <p:nvSpPr>
          <p:cNvPr id="16" name="Text 7"/>
          <p:cNvSpPr/>
          <p:nvPr/>
        </p:nvSpPr>
        <p:spPr>
          <a:xfrm>
            <a:off x="5212080" y="1737360"/>
            <a:ext cx="3657600" cy="457200"/>
          </a:xfrm>
          <a:prstGeom prst="rect">
            <a:avLst/>
          </a:prstGeom>
          <a:noFill/>
          <a:ln/>
        </p:spPr>
        <p:txBody>
          <a:bodyPr wrap="square" rtlCol="0" anchor="ctr"/>
          <a:lstStyle/>
          <a:p>
            <a:pPr indent="0" marL="0">
              <a:buNone/>
            </a:pPr>
            <a:r>
              <a:rPr lang="en-US" sz="1400" dirty="0">
                <a:solidFill>
                  <a:srgbClr val="333333"/>
                </a:solidFill>
              </a:rPr>
              <a:t>SQLファイル (DDL &amp; マスタ)</a:t>
            </a:r>
            <a:endParaRPr lang="en-US" sz="1400" dirty="0"/>
          </a:p>
        </p:txBody>
      </p:sp>
      <p:pic>
        <p:nvPicPr>
          <p:cNvPr id="17" name="Image 7" descr="preencoded.png">    </p:cNvPr>
          <p:cNvPicPr>
            <a:picLocks noChangeAspect="1"/>
          </p:cNvPicPr>
          <p:nvPr/>
        </p:nvPicPr>
        <p:blipFill>
          <a:blip r:embed="rId8"/>
          <a:stretch>
            <a:fillRect/>
          </a:stretch>
        </p:blipFill>
        <p:spPr>
          <a:xfrm>
            <a:off x="4754880" y="2194560"/>
            <a:ext cx="365760" cy="365760"/>
          </a:xfrm>
          <a:prstGeom prst="rect">
            <a:avLst/>
          </a:prstGeom>
        </p:spPr>
      </p:pic>
      <p:sp>
        <p:nvSpPr>
          <p:cNvPr id="18" name="Text 8"/>
          <p:cNvSpPr/>
          <p:nvPr/>
        </p:nvSpPr>
        <p:spPr>
          <a:xfrm>
            <a:off x="5212080" y="2148840"/>
            <a:ext cx="3657600" cy="457200"/>
          </a:xfrm>
          <a:prstGeom prst="rect">
            <a:avLst/>
          </a:prstGeom>
          <a:noFill/>
          <a:ln/>
        </p:spPr>
        <p:txBody>
          <a:bodyPr wrap="square" rtlCol="0" anchor="ctr"/>
          <a:lstStyle/>
          <a:p>
            <a:pPr indent="0" marL="0">
              <a:buNone/>
            </a:pPr>
            <a:r>
              <a:rPr lang="en-US" sz="1400" dirty="0">
                <a:solidFill>
                  <a:srgbClr val="333333"/>
                </a:solidFill>
              </a:rPr>
              <a:t>Excel方式は利用しない</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365760" y="274320"/>
            <a:ext cx="8229600" cy="548640"/>
          </a:xfrm>
          <a:prstGeom prst="rect">
            <a:avLst/>
          </a:prstGeom>
          <a:noFill/>
          <a:ln/>
        </p:spPr>
        <p:txBody>
          <a:bodyPr wrap="square" rtlCol="0" anchor="ctr"/>
          <a:lstStyle/>
          <a:p>
            <a:pPr indent="0" marL="0">
              <a:buNone/>
            </a:pPr>
            <a:r>
              <a:rPr lang="en-US" sz="2400" b="1" dirty="0">
                <a:solidFill>
                  <a:srgbClr val="083D77"/>
                </a:solidFill>
              </a:rPr>
              <a:t>テスト対象方針</a:t>
            </a:r>
            <a:endParaRPr lang="en-US" sz="2400" dirty="0"/>
          </a:p>
        </p:txBody>
      </p:sp>
      <p:sp>
        <p:nvSpPr>
          <p:cNvPr id="3" name="Shape 1"/>
          <p:cNvSpPr/>
          <p:nvPr/>
        </p:nvSpPr>
        <p:spPr>
          <a:xfrm>
            <a:off x="1371600" y="1097280"/>
            <a:ext cx="2286000" cy="640080"/>
          </a:xfrm>
          <a:prstGeom prst="roundRect">
            <a:avLst>
              <a:gd name="adj" fmla="val 14286"/>
            </a:avLst>
          </a:prstGeom>
          <a:solidFill>
            <a:srgbClr val="00A7E1"/>
          </a:solidFill>
          <a:ln w="12700">
            <a:solidFill>
              <a:srgbClr val="00A7E1"/>
            </a:solidFill>
            <a:prstDash val="solid"/>
          </a:ln>
        </p:spPr>
        <p:txBody>
          <a:bodyPr/>
          <a:p/>
        </p:txBody>
      </p:sp>
      <p:sp>
        <p:nvSpPr>
          <p:cNvPr id="4" name="Text 2"/>
          <p:cNvSpPr/>
          <p:nvPr/>
        </p:nvSpPr>
        <p:spPr>
          <a:xfrm>
            <a:off x="1371600" y="1097280"/>
            <a:ext cx="2286000" cy="640080"/>
          </a:xfrm>
          <a:prstGeom prst="rect">
            <a:avLst/>
          </a:prstGeom>
          <a:noFill/>
          <a:ln/>
        </p:spPr>
        <p:txBody>
          <a:bodyPr wrap="square" rtlCol="0" anchor="ctr"/>
          <a:lstStyle/>
          <a:p>
            <a:pPr algn="ctr" indent="0" marL="0">
              <a:buNone/>
            </a:pPr>
            <a:r>
              <a:rPr lang="en-US" sz="1400" b="1" dirty="0">
                <a:solidFill>
                  <a:srgbClr val="F7F9FB"/>
                </a:solidFill>
              </a:rPr>
              <a:t>Service</a:t>
            </a:r>
            <a:endParaRPr lang="en-US" sz="1400" dirty="0"/>
          </a:p>
        </p:txBody>
      </p:sp>
      <p:sp>
        <p:nvSpPr>
          <p:cNvPr id="5" name="Shape 3"/>
          <p:cNvSpPr/>
          <p:nvPr/>
        </p:nvSpPr>
        <p:spPr>
          <a:xfrm>
            <a:off x="1371600" y="1783080"/>
            <a:ext cx="2286000" cy="640080"/>
          </a:xfrm>
          <a:prstGeom prst="roundRect">
            <a:avLst>
              <a:gd name="adj" fmla="val 14286"/>
            </a:avLst>
          </a:prstGeom>
          <a:solidFill>
            <a:srgbClr val="F4D35E"/>
          </a:solidFill>
          <a:ln w="12700">
            <a:solidFill>
              <a:srgbClr val="F4D35E"/>
            </a:solidFill>
            <a:prstDash val="solid"/>
          </a:ln>
        </p:spPr>
        <p:txBody>
          <a:bodyPr/>
          <a:p/>
        </p:txBody>
      </p:sp>
      <p:sp>
        <p:nvSpPr>
          <p:cNvPr id="6" name="Text 4"/>
          <p:cNvSpPr/>
          <p:nvPr/>
        </p:nvSpPr>
        <p:spPr>
          <a:xfrm>
            <a:off x="1371600" y="1783080"/>
            <a:ext cx="2286000" cy="640080"/>
          </a:xfrm>
          <a:prstGeom prst="rect">
            <a:avLst/>
          </a:prstGeom>
          <a:noFill/>
          <a:ln/>
        </p:spPr>
        <p:txBody>
          <a:bodyPr wrap="square" rtlCol="0" anchor="ctr"/>
          <a:lstStyle/>
          <a:p>
            <a:pPr algn="ctr" indent="0" marL="0">
              <a:buNone/>
            </a:pPr>
            <a:r>
              <a:rPr lang="en-US" sz="1400" b="1" dirty="0">
                <a:solidFill>
                  <a:srgbClr val="F7F9FB"/>
                </a:solidFill>
              </a:rPr>
              <a:t>Logic</a:t>
            </a:r>
            <a:endParaRPr lang="en-US" sz="1400" dirty="0"/>
          </a:p>
        </p:txBody>
      </p:sp>
      <p:sp>
        <p:nvSpPr>
          <p:cNvPr id="7" name="Shape 5"/>
          <p:cNvSpPr/>
          <p:nvPr/>
        </p:nvSpPr>
        <p:spPr>
          <a:xfrm>
            <a:off x="1371600" y="2468880"/>
            <a:ext cx="2286000" cy="640080"/>
          </a:xfrm>
          <a:prstGeom prst="roundRect">
            <a:avLst>
              <a:gd name="adj" fmla="val 14286"/>
            </a:avLst>
          </a:prstGeom>
          <a:solidFill>
            <a:srgbClr val="083D77"/>
          </a:solidFill>
          <a:ln w="12700">
            <a:solidFill>
              <a:srgbClr val="083D77"/>
            </a:solidFill>
            <a:prstDash val="solid"/>
          </a:ln>
        </p:spPr>
        <p:txBody>
          <a:bodyPr/>
          <a:p/>
        </p:txBody>
      </p:sp>
      <p:sp>
        <p:nvSpPr>
          <p:cNvPr id="8" name="Text 6"/>
          <p:cNvSpPr/>
          <p:nvPr/>
        </p:nvSpPr>
        <p:spPr>
          <a:xfrm>
            <a:off x="1371600" y="2468880"/>
            <a:ext cx="2286000" cy="640080"/>
          </a:xfrm>
          <a:prstGeom prst="rect">
            <a:avLst/>
          </a:prstGeom>
          <a:noFill/>
          <a:ln/>
        </p:spPr>
        <p:txBody>
          <a:bodyPr wrap="square" rtlCol="0" anchor="ctr"/>
          <a:lstStyle/>
          <a:p>
            <a:pPr algn="ctr" indent="0" marL="0">
              <a:buNone/>
            </a:pPr>
            <a:r>
              <a:rPr lang="en-US" sz="1400" b="1" dirty="0">
                <a:solidFill>
                  <a:srgbClr val="F7F9FB"/>
                </a:solidFill>
              </a:rPr>
              <a:t>Dao</a:t>
            </a:r>
            <a:endParaRPr lang="en-US" sz="1400" dirty="0"/>
          </a:p>
        </p:txBody>
      </p:sp>
      <p:sp>
        <p:nvSpPr>
          <p:cNvPr id="9" name="Shape 7"/>
          <p:cNvSpPr/>
          <p:nvPr/>
        </p:nvSpPr>
        <p:spPr>
          <a:xfrm>
            <a:off x="3749040" y="1234440"/>
            <a:ext cx="274320" cy="274320"/>
          </a:xfrm>
          <a:prstGeom prst="triangle">
            <a:avLst/>
          </a:prstGeom>
          <a:solidFill>
            <a:srgbClr val="083D77"/>
          </a:solidFill>
          <a:ln w="12700">
            <a:solidFill>
              <a:srgbClr val="083D77"/>
            </a:solidFill>
            <a:prstDash val="solid"/>
          </a:ln>
        </p:spPr>
        <p:txBody>
          <a:bodyPr/>
          <a:p/>
        </p:txBody>
      </p:sp>
      <p:sp>
        <p:nvSpPr>
          <p:cNvPr id="10" name="Shape 8"/>
          <p:cNvSpPr/>
          <p:nvPr/>
        </p:nvSpPr>
        <p:spPr>
          <a:xfrm>
            <a:off x="3749040" y="1920240"/>
            <a:ext cx="274320" cy="274320"/>
          </a:xfrm>
          <a:prstGeom prst="triangle">
            <a:avLst/>
          </a:prstGeom>
          <a:solidFill>
            <a:srgbClr val="083D77"/>
          </a:solidFill>
          <a:ln w="12700">
            <a:solidFill>
              <a:srgbClr val="083D77"/>
            </a:solidFill>
            <a:prstDash val="solid"/>
          </a:ln>
        </p:spPr>
        <p:txBody>
          <a:bodyPr/>
          <a:p/>
        </p:txBody>
      </p:sp>
      <p:sp>
        <p:nvSpPr>
          <p:cNvPr id="11" name="Text 9"/>
          <p:cNvSpPr/>
          <p:nvPr/>
        </p:nvSpPr>
        <p:spPr>
          <a:xfrm>
            <a:off x="4206240" y="1097280"/>
            <a:ext cx="4572000" cy="457200"/>
          </a:xfrm>
          <a:prstGeom prst="rect">
            <a:avLst/>
          </a:prstGeom>
          <a:noFill/>
          <a:ln/>
        </p:spPr>
        <p:txBody>
          <a:bodyPr wrap="square" rtlCol="0" anchor="ctr"/>
          <a:lstStyle/>
          <a:p>
            <a:pPr indent="0" marL="0">
              <a:buNone/>
            </a:pPr>
            <a:r>
              <a:rPr lang="en-US" sz="1400" b="1" dirty="0">
                <a:solidFill>
                  <a:srgbClr val="00A7E1"/>
                </a:solidFill>
              </a:rPr>
              <a:t>• </a:t>
            </a:r>
            <a:pPr indent="0" marL="0">
              <a:buNone/>
            </a:pPr>
            <a:r>
              <a:rPr lang="en-US" sz="1400" dirty="0">
                <a:solidFill>
                  <a:srgbClr val="333333"/>
                </a:solidFill>
              </a:rPr>
              <a:t>Service層: トランザクション境界と連携を検証</a:t>
            </a:r>
            <a:endParaRPr lang="en-US" sz="1400" dirty="0"/>
          </a:p>
        </p:txBody>
      </p:sp>
      <p:sp>
        <p:nvSpPr>
          <p:cNvPr id="12" name="Text 10"/>
          <p:cNvSpPr/>
          <p:nvPr/>
        </p:nvSpPr>
        <p:spPr>
          <a:xfrm>
            <a:off x="4206240" y="1554480"/>
            <a:ext cx="4572000" cy="457200"/>
          </a:xfrm>
          <a:prstGeom prst="rect">
            <a:avLst/>
          </a:prstGeom>
          <a:noFill/>
          <a:ln/>
        </p:spPr>
        <p:txBody>
          <a:bodyPr wrap="square" rtlCol="0" anchor="ctr"/>
          <a:lstStyle/>
          <a:p>
            <a:pPr indent="0" marL="0">
              <a:buNone/>
            </a:pPr>
            <a:r>
              <a:rPr lang="en-US" sz="1400" b="1" dirty="0">
                <a:solidFill>
                  <a:srgbClr val="00A7E1"/>
                </a:solidFill>
              </a:rPr>
              <a:t>• </a:t>
            </a:r>
            <a:pPr indent="0" marL="0">
              <a:buNone/>
            </a:pPr>
            <a:r>
              <a:rPr lang="en-US" sz="1400" dirty="0">
                <a:solidFill>
                  <a:srgbClr val="333333"/>
                </a:solidFill>
              </a:rPr>
              <a:t>Logic層: 業務ロジック・分岐・例外を網羅</a:t>
            </a:r>
            <a:endParaRPr lang="en-US" sz="1400" dirty="0"/>
          </a:p>
        </p:txBody>
      </p:sp>
      <p:sp>
        <p:nvSpPr>
          <p:cNvPr id="13" name="Text 11"/>
          <p:cNvSpPr/>
          <p:nvPr/>
        </p:nvSpPr>
        <p:spPr>
          <a:xfrm>
            <a:off x="4206240" y="2011680"/>
            <a:ext cx="4572000" cy="457200"/>
          </a:xfrm>
          <a:prstGeom prst="rect">
            <a:avLst/>
          </a:prstGeom>
          <a:noFill/>
          <a:ln/>
        </p:spPr>
        <p:txBody>
          <a:bodyPr wrap="square" rtlCol="0" anchor="ctr"/>
          <a:lstStyle/>
          <a:p>
            <a:pPr indent="0" marL="0">
              <a:buNone/>
            </a:pPr>
            <a:r>
              <a:rPr lang="en-US" sz="1400" b="1" dirty="0">
                <a:solidFill>
                  <a:srgbClr val="00A7E1"/>
                </a:solidFill>
              </a:rPr>
              <a:t>• </a:t>
            </a:r>
            <a:pPr indent="0" marL="0">
              <a:buNone/>
            </a:pPr>
            <a:r>
              <a:rPr lang="en-US" sz="1400" dirty="0">
                <a:solidFill>
                  <a:srgbClr val="333333"/>
                </a:solidFill>
              </a:rPr>
              <a:t>Dao層: SQLや更新件数をH2で確認</a:t>
            </a:r>
            <a:endParaRPr lang="en-US" sz="1400" dirty="0"/>
          </a:p>
        </p:txBody>
      </p:sp>
      <p:sp>
        <p:nvSpPr>
          <p:cNvPr id="14" name="Text 12"/>
          <p:cNvSpPr/>
          <p:nvPr/>
        </p:nvSpPr>
        <p:spPr>
          <a:xfrm>
            <a:off x="4206240" y="2468880"/>
            <a:ext cx="4572000" cy="457200"/>
          </a:xfrm>
          <a:prstGeom prst="rect">
            <a:avLst/>
          </a:prstGeom>
          <a:noFill/>
          <a:ln/>
        </p:spPr>
        <p:txBody>
          <a:bodyPr wrap="square" rtlCol="0" anchor="ctr"/>
          <a:lstStyle/>
          <a:p>
            <a:pPr indent="0" marL="0">
              <a:buNone/>
            </a:pPr>
            <a:r>
              <a:rPr lang="en-US" sz="1400" b="1" dirty="0">
                <a:solidFill>
                  <a:srgbClr val="00A7E1"/>
                </a:solidFill>
              </a:rPr>
              <a:t>• </a:t>
            </a:r>
            <a:pPr indent="0" marL="0">
              <a:buNone/>
            </a:pPr>
            <a:r>
              <a:rPr lang="en-US" sz="1400" dirty="0">
                <a:solidFill>
                  <a:srgbClr val="333333"/>
                </a:solidFill>
              </a:rPr>
              <a:t>外部連携はEasyMockでモック化し、例外処理を検証</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365760" y="274320"/>
            <a:ext cx="8229600" cy="548640"/>
          </a:xfrm>
          <a:prstGeom prst="rect">
            <a:avLst/>
          </a:prstGeom>
          <a:noFill/>
          <a:ln/>
        </p:spPr>
        <p:txBody>
          <a:bodyPr wrap="square" rtlCol="0" anchor="ctr"/>
          <a:lstStyle/>
          <a:p>
            <a:pPr indent="0" marL="0">
              <a:buNone/>
            </a:pPr>
            <a:r>
              <a:rPr lang="en-US" sz="2400" b="1" dirty="0">
                <a:solidFill>
                  <a:srgbClr val="083D77"/>
                </a:solidFill>
              </a:rPr>
              <a:t>テストデータと規約</a:t>
            </a:r>
            <a:endParaRPr lang="en-US" sz="2400" dirty="0"/>
          </a:p>
        </p:txBody>
      </p:sp>
      <p:pic>
        <p:nvPicPr>
          <p:cNvPr id="3" name="Image 0" descr="preencoded.png">    </p:cNvPr>
          <p:cNvPicPr>
            <a:picLocks noChangeAspect="1"/>
          </p:cNvPicPr>
          <p:nvPr/>
        </p:nvPicPr>
        <p:blipFill>
          <a:blip r:embed="rId1"/>
          <a:stretch>
            <a:fillRect/>
          </a:stretch>
        </p:blipFill>
        <p:spPr>
          <a:xfrm>
            <a:off x="365760" y="1005840"/>
            <a:ext cx="365760" cy="365760"/>
          </a:xfrm>
          <a:prstGeom prst="rect">
            <a:avLst/>
          </a:prstGeom>
        </p:spPr>
      </p:pic>
      <p:sp>
        <p:nvSpPr>
          <p:cNvPr id="4" name="Text 1"/>
          <p:cNvSpPr/>
          <p:nvPr/>
        </p:nvSpPr>
        <p:spPr>
          <a:xfrm>
            <a:off x="822960" y="960120"/>
            <a:ext cx="3200400" cy="457200"/>
          </a:xfrm>
          <a:prstGeom prst="rect">
            <a:avLst/>
          </a:prstGeom>
          <a:noFill/>
          <a:ln/>
        </p:spPr>
        <p:txBody>
          <a:bodyPr wrap="square" rtlCol="0" anchor="ctr"/>
          <a:lstStyle/>
          <a:p>
            <a:pPr indent="0" marL="0">
              <a:buNone/>
            </a:pPr>
            <a:r>
              <a:rPr lang="en-US" sz="1800" b="1" dirty="0">
                <a:solidFill>
                  <a:srgbClr val="00A7E1"/>
                </a:solidFill>
              </a:rPr>
              <a:t>データ作成</a:t>
            </a:r>
            <a:endParaRPr lang="en-US" sz="1800" dirty="0"/>
          </a:p>
        </p:txBody>
      </p:sp>
      <p:sp>
        <p:nvSpPr>
          <p:cNvPr id="5" name="Text 2"/>
          <p:cNvSpPr/>
          <p:nvPr/>
        </p:nvSpPr>
        <p:spPr>
          <a:xfrm>
            <a:off x="548640" y="1463040"/>
            <a:ext cx="4114800" cy="365760"/>
          </a:xfrm>
          <a:prstGeom prst="rect">
            <a:avLst/>
          </a:prstGeom>
          <a:noFill/>
          <a:ln/>
        </p:spPr>
        <p:txBody>
          <a:bodyPr wrap="square" rtlCol="0" anchor="ctr"/>
          <a:lstStyle/>
          <a:p>
            <a:pPr indent="0" marL="0">
              <a:buNone/>
            </a:pPr>
            <a:r>
              <a:rPr lang="en-US" sz="1300" b="1" dirty="0">
                <a:solidFill>
                  <a:srgbClr val="00A7E1"/>
                </a:solidFill>
              </a:rPr>
              <a:t>• </a:t>
            </a:r>
            <a:pPr indent="0" marL="0">
              <a:buNone/>
            </a:pPr>
            <a:r>
              <a:rPr lang="en-US" sz="1300" dirty="0">
                <a:solidFill>
                  <a:srgbClr val="333333"/>
                </a:solidFill>
              </a:rPr>
              <a:t>TestDataBuilder: 1件生成に集中</a:t>
            </a:r>
            <a:endParaRPr lang="en-US" sz="1300" dirty="0"/>
          </a:p>
        </p:txBody>
      </p:sp>
      <p:sp>
        <p:nvSpPr>
          <p:cNvPr id="6" name="Text 3"/>
          <p:cNvSpPr/>
          <p:nvPr/>
        </p:nvSpPr>
        <p:spPr>
          <a:xfrm>
            <a:off x="548640" y="1783080"/>
            <a:ext cx="4114800" cy="365760"/>
          </a:xfrm>
          <a:prstGeom prst="rect">
            <a:avLst/>
          </a:prstGeom>
          <a:noFill/>
          <a:ln/>
        </p:spPr>
        <p:txBody>
          <a:bodyPr wrap="square" rtlCol="0" anchor="ctr"/>
          <a:lstStyle/>
          <a:p>
            <a:pPr indent="0" marL="0">
              <a:buNone/>
            </a:pPr>
            <a:r>
              <a:rPr lang="en-US" sz="1300" b="1" dirty="0">
                <a:solidFill>
                  <a:srgbClr val="00A7E1"/>
                </a:solidFill>
              </a:rPr>
              <a:t>• </a:t>
            </a:r>
            <a:pPr indent="0" marL="0">
              <a:buNone/>
            </a:pPr>
            <a:r>
              <a:rPr lang="en-US" sz="1300" dirty="0">
                <a:solidFill>
                  <a:srgbClr val="333333"/>
                </a:solidFill>
              </a:rPr>
              <a:t>Fixture: 1テーブル/機能単位の登録</a:t>
            </a:r>
            <a:endParaRPr lang="en-US" sz="1300" dirty="0"/>
          </a:p>
        </p:txBody>
      </p:sp>
      <p:sp>
        <p:nvSpPr>
          <p:cNvPr id="7" name="Text 4"/>
          <p:cNvSpPr/>
          <p:nvPr/>
        </p:nvSpPr>
        <p:spPr>
          <a:xfrm>
            <a:off x="548640" y="2103120"/>
            <a:ext cx="4114800" cy="365760"/>
          </a:xfrm>
          <a:prstGeom prst="rect">
            <a:avLst/>
          </a:prstGeom>
          <a:noFill/>
          <a:ln/>
        </p:spPr>
        <p:txBody>
          <a:bodyPr wrap="square" rtlCol="0" anchor="ctr"/>
          <a:lstStyle/>
          <a:p>
            <a:pPr indent="0" marL="0">
              <a:buNone/>
            </a:pPr>
            <a:r>
              <a:rPr lang="en-US" sz="1300" b="1" dirty="0">
                <a:solidFill>
                  <a:srgbClr val="00A7E1"/>
                </a:solidFill>
              </a:rPr>
              <a:t>• </a:t>
            </a:r>
            <a:pPr indent="0" marL="0">
              <a:buNone/>
            </a:pPr>
            <a:r>
              <a:rPr lang="en-US" sz="1300" dirty="0">
                <a:solidFill>
                  <a:srgbClr val="333333"/>
                </a:solidFill>
              </a:rPr>
              <a:t>Scenario Fixture: 複数テーブルをまたぐ業務状態</a:t>
            </a:r>
            <a:endParaRPr lang="en-US" sz="1300" dirty="0"/>
          </a:p>
        </p:txBody>
      </p:sp>
      <p:sp>
        <p:nvSpPr>
          <p:cNvPr id="8" name="Text 5"/>
          <p:cNvSpPr/>
          <p:nvPr/>
        </p:nvSpPr>
        <p:spPr>
          <a:xfrm>
            <a:off x="548640" y="2423160"/>
            <a:ext cx="4114800" cy="365760"/>
          </a:xfrm>
          <a:prstGeom prst="rect">
            <a:avLst/>
          </a:prstGeom>
          <a:noFill/>
          <a:ln/>
        </p:spPr>
        <p:txBody>
          <a:bodyPr wrap="square" rtlCol="0" anchor="ctr"/>
          <a:lstStyle/>
          <a:p>
            <a:pPr indent="0" marL="0">
              <a:buNone/>
            </a:pPr>
            <a:r>
              <a:rPr lang="en-US" sz="1300" b="1" dirty="0">
                <a:solidFill>
                  <a:srgbClr val="00A7E1"/>
                </a:solidFill>
              </a:rPr>
              <a:t>• </a:t>
            </a:r>
            <a:pPr indent="0" marL="0">
              <a:buNone/>
            </a:pPr>
            <a:r>
              <a:rPr lang="en-US" sz="1300" dirty="0">
                <a:solidFill>
                  <a:srgbClr val="333333"/>
                </a:solidFill>
              </a:rPr>
              <a:t>SQL: DDL &amp; マスタデータ</a:t>
            </a:r>
            <a:endParaRPr lang="en-US" sz="1300" dirty="0"/>
          </a:p>
        </p:txBody>
      </p:sp>
      <p:pic>
        <p:nvPicPr>
          <p:cNvPr id="9" name="Image 1" descr="preencoded.png">    </p:cNvPr>
          <p:cNvPicPr>
            <a:picLocks noChangeAspect="1"/>
          </p:cNvPicPr>
          <p:nvPr/>
        </p:nvPicPr>
        <p:blipFill>
          <a:blip r:embed="rId2"/>
          <a:stretch>
            <a:fillRect/>
          </a:stretch>
        </p:blipFill>
        <p:spPr>
          <a:xfrm>
            <a:off x="4846320" y="1005840"/>
            <a:ext cx="365760" cy="365760"/>
          </a:xfrm>
          <a:prstGeom prst="rect">
            <a:avLst/>
          </a:prstGeom>
        </p:spPr>
      </p:pic>
      <p:sp>
        <p:nvSpPr>
          <p:cNvPr id="10" name="Text 6"/>
          <p:cNvSpPr/>
          <p:nvPr/>
        </p:nvSpPr>
        <p:spPr>
          <a:xfrm>
            <a:off x="5303520" y="960120"/>
            <a:ext cx="3200400" cy="457200"/>
          </a:xfrm>
          <a:prstGeom prst="rect">
            <a:avLst/>
          </a:prstGeom>
          <a:noFill/>
          <a:ln/>
        </p:spPr>
        <p:txBody>
          <a:bodyPr wrap="square" rtlCol="0" anchor="ctr"/>
          <a:lstStyle/>
          <a:p>
            <a:pPr indent="0" marL="0">
              <a:buNone/>
            </a:pPr>
            <a:r>
              <a:rPr lang="en-US" sz="1800" b="1" dirty="0">
                <a:solidFill>
                  <a:srgbClr val="00A7E1"/>
                </a:solidFill>
              </a:rPr>
              <a:t>記述規約</a:t>
            </a:r>
            <a:endParaRPr lang="en-US" sz="1800" dirty="0"/>
          </a:p>
        </p:txBody>
      </p:sp>
      <p:sp>
        <p:nvSpPr>
          <p:cNvPr id="11" name="Text 7"/>
          <p:cNvSpPr/>
          <p:nvPr/>
        </p:nvSpPr>
        <p:spPr>
          <a:xfrm>
            <a:off x="5029200" y="1463040"/>
            <a:ext cx="4023360" cy="365760"/>
          </a:xfrm>
          <a:prstGeom prst="rect">
            <a:avLst/>
          </a:prstGeom>
          <a:noFill/>
          <a:ln/>
        </p:spPr>
        <p:txBody>
          <a:bodyPr wrap="square" rtlCol="0" anchor="ctr"/>
          <a:lstStyle/>
          <a:p>
            <a:pPr indent="0" marL="0">
              <a:buNone/>
            </a:pPr>
            <a:r>
              <a:rPr lang="en-US" sz="1300" b="1" dirty="0">
                <a:solidFill>
                  <a:srgbClr val="00A7E1"/>
                </a:solidFill>
              </a:rPr>
              <a:t>• </a:t>
            </a:r>
            <a:pPr indent="0" marL="0">
              <a:buNone/>
            </a:pPr>
            <a:r>
              <a:rPr lang="en-US" sz="1300" dirty="0">
                <a:solidFill>
                  <a:srgbClr val="333333"/>
                </a:solidFill>
              </a:rPr>
              <a:t>テストクラス名は対象+Test</a:t>
            </a:r>
            <a:endParaRPr lang="en-US" sz="1300" dirty="0"/>
          </a:p>
        </p:txBody>
      </p:sp>
      <p:sp>
        <p:nvSpPr>
          <p:cNvPr id="12" name="Text 8"/>
          <p:cNvSpPr/>
          <p:nvPr/>
        </p:nvSpPr>
        <p:spPr>
          <a:xfrm>
            <a:off x="5029200" y="1783080"/>
            <a:ext cx="4023360" cy="365760"/>
          </a:xfrm>
          <a:prstGeom prst="rect">
            <a:avLst/>
          </a:prstGeom>
          <a:noFill/>
          <a:ln/>
        </p:spPr>
        <p:txBody>
          <a:bodyPr wrap="square" rtlCol="0" anchor="ctr"/>
          <a:lstStyle/>
          <a:p>
            <a:pPr indent="0" marL="0">
              <a:buNone/>
            </a:pPr>
            <a:r>
              <a:rPr lang="en-US" sz="1300" b="1" dirty="0">
                <a:solidFill>
                  <a:srgbClr val="00A7E1"/>
                </a:solidFill>
              </a:rPr>
              <a:t>• </a:t>
            </a:r>
            <a:pPr indent="0" marL="0">
              <a:buNone/>
            </a:pPr>
            <a:r>
              <a:rPr lang="en-US" sz="1300" dirty="0">
                <a:solidFill>
                  <a:srgbClr val="333333"/>
                </a:solidFill>
              </a:rPr>
              <a:t>メソッド名は条件と期待結果を示す</a:t>
            </a:r>
            <a:endParaRPr lang="en-US" sz="1300" dirty="0"/>
          </a:p>
        </p:txBody>
      </p:sp>
      <p:sp>
        <p:nvSpPr>
          <p:cNvPr id="13" name="Text 9"/>
          <p:cNvSpPr/>
          <p:nvPr/>
        </p:nvSpPr>
        <p:spPr>
          <a:xfrm>
            <a:off x="5029200" y="2103120"/>
            <a:ext cx="4023360" cy="365760"/>
          </a:xfrm>
          <a:prstGeom prst="rect">
            <a:avLst/>
          </a:prstGeom>
          <a:noFill/>
          <a:ln/>
        </p:spPr>
        <p:txBody>
          <a:bodyPr wrap="square" rtlCol="0" anchor="ctr"/>
          <a:lstStyle/>
          <a:p>
            <a:pPr indent="0" marL="0">
              <a:buNone/>
            </a:pPr>
            <a:r>
              <a:rPr lang="en-US" sz="1300" b="1" dirty="0">
                <a:solidFill>
                  <a:srgbClr val="00A7E1"/>
                </a:solidFill>
              </a:rPr>
              <a:t>• </a:t>
            </a:r>
            <a:pPr indent="0" marL="0">
              <a:buNone/>
            </a:pPr>
            <a:r>
              <a:rPr lang="en-US" sz="1300" dirty="0">
                <a:solidFill>
                  <a:srgbClr val="333333"/>
                </a:solidFill>
              </a:rPr>
              <a:t>Given/When/Then で区切る</a:t>
            </a:r>
            <a:endParaRPr lang="en-US" sz="1300" dirty="0"/>
          </a:p>
        </p:txBody>
      </p:sp>
      <p:sp>
        <p:nvSpPr>
          <p:cNvPr id="14" name="Text 10"/>
          <p:cNvSpPr/>
          <p:nvPr/>
        </p:nvSpPr>
        <p:spPr>
          <a:xfrm>
            <a:off x="5029200" y="2423160"/>
            <a:ext cx="4023360" cy="365760"/>
          </a:xfrm>
          <a:prstGeom prst="rect">
            <a:avLst/>
          </a:prstGeom>
          <a:noFill/>
          <a:ln/>
        </p:spPr>
        <p:txBody>
          <a:bodyPr wrap="square" rtlCol="0" anchor="ctr"/>
          <a:lstStyle/>
          <a:p>
            <a:pPr indent="0" marL="0">
              <a:buNone/>
            </a:pPr>
            <a:r>
              <a:rPr lang="en-US" sz="1300" b="1" dirty="0">
                <a:solidFill>
                  <a:srgbClr val="00A7E1"/>
                </a:solidFill>
              </a:rPr>
              <a:t>• </a:t>
            </a:r>
            <a:pPr indent="0" marL="0">
              <a:buNone/>
            </a:pPr>
            <a:r>
              <a:rPr lang="en-US" sz="1300" dirty="0">
                <a:solidFill>
                  <a:srgbClr val="333333"/>
                </a:solidFill>
              </a:rPr>
              <a:t>JUnit assert を使用</a:t>
            </a:r>
            <a:endParaRPr lang="en-US" sz="1300" dirty="0"/>
          </a:p>
        </p:txBody>
      </p:sp>
      <p:sp>
        <p:nvSpPr>
          <p:cNvPr id="15" name="Text 11"/>
          <p:cNvSpPr/>
          <p:nvPr/>
        </p:nvSpPr>
        <p:spPr>
          <a:xfrm>
            <a:off x="5029200" y="2743200"/>
            <a:ext cx="4023360" cy="365760"/>
          </a:xfrm>
          <a:prstGeom prst="rect">
            <a:avLst/>
          </a:prstGeom>
          <a:noFill/>
          <a:ln/>
        </p:spPr>
        <p:txBody>
          <a:bodyPr wrap="square" rtlCol="0" anchor="ctr"/>
          <a:lstStyle/>
          <a:p>
            <a:pPr indent="0" marL="0">
              <a:buNone/>
            </a:pPr>
            <a:r>
              <a:rPr lang="en-US" sz="1300" b="1" dirty="0">
                <a:solidFill>
                  <a:srgbClr val="00A7E1"/>
                </a:solidFill>
              </a:rPr>
              <a:t>• </a:t>
            </a:r>
            <a:pPr indent="0" marL="0">
              <a:buNone/>
            </a:pPr>
            <a:r>
              <a:rPr lang="en-US" sz="1300" dirty="0">
                <a:solidFill>
                  <a:srgbClr val="333333"/>
                </a:solidFill>
              </a:rPr>
              <a:t>EasyMock に統一し、Mockito禁止</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365760" y="274320"/>
            <a:ext cx="8229600" cy="548640"/>
          </a:xfrm>
          <a:prstGeom prst="rect">
            <a:avLst/>
          </a:prstGeom>
          <a:noFill/>
          <a:ln/>
        </p:spPr>
        <p:txBody>
          <a:bodyPr wrap="square" rtlCol="0" anchor="ctr"/>
          <a:lstStyle/>
          <a:p>
            <a:pPr indent="0" marL="0">
              <a:buNone/>
            </a:pPr>
            <a:r>
              <a:rPr lang="en-US" sz="2400" b="1" dirty="0">
                <a:solidFill>
                  <a:srgbClr val="083D77"/>
                </a:solidFill>
              </a:rPr>
              <a:t>H2とCI活用</a:t>
            </a:r>
            <a:endParaRPr lang="en-US" sz="2400" dirty="0"/>
          </a:p>
        </p:txBody>
      </p:sp>
      <p:pic>
        <p:nvPicPr>
          <p:cNvPr id="3" name="Image 0" descr="preencoded.png">    </p:cNvPr>
          <p:cNvPicPr>
            <a:picLocks noChangeAspect="1"/>
          </p:cNvPicPr>
          <p:nvPr/>
        </p:nvPicPr>
        <p:blipFill>
          <a:blip r:embed="rId1"/>
          <a:stretch>
            <a:fillRect/>
          </a:stretch>
        </p:blipFill>
        <p:spPr>
          <a:xfrm>
            <a:off x="365760" y="1005840"/>
            <a:ext cx="365760" cy="365760"/>
          </a:xfrm>
          <a:prstGeom prst="rect">
            <a:avLst/>
          </a:prstGeom>
        </p:spPr>
      </p:pic>
      <p:sp>
        <p:nvSpPr>
          <p:cNvPr id="4" name="Text 1"/>
          <p:cNvSpPr/>
          <p:nvPr/>
        </p:nvSpPr>
        <p:spPr>
          <a:xfrm>
            <a:off x="822960" y="960120"/>
            <a:ext cx="3840480" cy="457200"/>
          </a:xfrm>
          <a:prstGeom prst="rect">
            <a:avLst/>
          </a:prstGeom>
          <a:noFill/>
          <a:ln/>
        </p:spPr>
        <p:txBody>
          <a:bodyPr wrap="square" rtlCol="0" anchor="ctr"/>
          <a:lstStyle/>
          <a:p>
            <a:pPr indent="0" marL="0">
              <a:buNone/>
            </a:pPr>
            <a:r>
              <a:rPr lang="en-US" sz="1800" b="1" dirty="0">
                <a:solidFill>
                  <a:srgbClr val="00A7E1"/>
                </a:solidFill>
              </a:rPr>
              <a:t>DB初期化 &amp; 独立性</a:t>
            </a:r>
            <a:endParaRPr lang="en-US" sz="1800" dirty="0"/>
          </a:p>
        </p:txBody>
      </p:sp>
      <p:sp>
        <p:nvSpPr>
          <p:cNvPr id="5" name="Text 2"/>
          <p:cNvSpPr/>
          <p:nvPr/>
        </p:nvSpPr>
        <p:spPr>
          <a:xfrm>
            <a:off x="548640" y="1463040"/>
            <a:ext cx="4114800" cy="365760"/>
          </a:xfrm>
          <a:prstGeom prst="rect">
            <a:avLst/>
          </a:prstGeom>
          <a:noFill/>
          <a:ln/>
        </p:spPr>
        <p:txBody>
          <a:bodyPr wrap="square" rtlCol="0" anchor="ctr"/>
          <a:lstStyle/>
          <a:p>
            <a:pPr indent="0" marL="0">
              <a:buNone/>
            </a:pPr>
            <a:r>
              <a:rPr lang="en-US" sz="1300" b="1" dirty="0">
                <a:solidFill>
                  <a:srgbClr val="00A7E1"/>
                </a:solidFill>
              </a:rPr>
              <a:t>• </a:t>
            </a:r>
            <a:pPr indent="0" marL="0">
              <a:buNone/>
            </a:pPr>
            <a:r>
              <a:rPr lang="en-US" sz="1300" dirty="0">
                <a:solidFill>
                  <a:srgbClr val="333333"/>
                </a:solidFill>
              </a:rPr>
              <a:t>各テスト後ロールバック/前削除/再作成</a:t>
            </a:r>
            <a:endParaRPr lang="en-US" sz="1300" dirty="0"/>
          </a:p>
        </p:txBody>
      </p:sp>
      <p:sp>
        <p:nvSpPr>
          <p:cNvPr id="6" name="Text 3"/>
          <p:cNvSpPr/>
          <p:nvPr/>
        </p:nvSpPr>
        <p:spPr>
          <a:xfrm>
            <a:off x="548640" y="1783080"/>
            <a:ext cx="4114800" cy="365760"/>
          </a:xfrm>
          <a:prstGeom prst="rect">
            <a:avLst/>
          </a:prstGeom>
          <a:noFill/>
          <a:ln/>
        </p:spPr>
        <p:txBody>
          <a:bodyPr wrap="square" rtlCol="0" anchor="ctr"/>
          <a:lstStyle/>
          <a:p>
            <a:pPr indent="0" marL="0">
              <a:buNone/>
            </a:pPr>
            <a:r>
              <a:rPr lang="en-US" sz="1300" b="1" dirty="0">
                <a:solidFill>
                  <a:srgbClr val="00A7E1"/>
                </a:solidFill>
              </a:rPr>
              <a:t>• </a:t>
            </a:r>
            <a:pPr indent="0" marL="0">
              <a:buNone/>
            </a:pPr>
            <a:r>
              <a:rPr lang="en-US" sz="1300" dirty="0">
                <a:solidFill>
                  <a:srgbClr val="333333"/>
                </a:solidFill>
              </a:rPr>
              <a:t>H2と本番DBの違いに注意</a:t>
            </a:r>
            <a:endParaRPr lang="en-US" sz="1300" dirty="0"/>
          </a:p>
        </p:txBody>
      </p:sp>
      <p:sp>
        <p:nvSpPr>
          <p:cNvPr id="7" name="Text 4"/>
          <p:cNvSpPr/>
          <p:nvPr/>
        </p:nvSpPr>
        <p:spPr>
          <a:xfrm>
            <a:off x="548640" y="2103120"/>
            <a:ext cx="4114800" cy="365760"/>
          </a:xfrm>
          <a:prstGeom prst="rect">
            <a:avLst/>
          </a:prstGeom>
          <a:noFill/>
          <a:ln/>
        </p:spPr>
        <p:txBody>
          <a:bodyPr wrap="square" rtlCol="0" anchor="ctr"/>
          <a:lstStyle/>
          <a:p>
            <a:pPr indent="0" marL="0">
              <a:buNone/>
            </a:pPr>
            <a:r>
              <a:rPr lang="en-US" sz="1300" b="1" dirty="0">
                <a:solidFill>
                  <a:srgbClr val="00A7E1"/>
                </a:solidFill>
              </a:rPr>
              <a:t>• </a:t>
            </a:r>
            <a:pPr indent="0" marL="0">
              <a:buNone/>
            </a:pPr>
            <a:r>
              <a:rPr lang="en-US" sz="1300" dirty="0">
                <a:solidFill>
                  <a:srgbClr val="333333"/>
                </a:solidFill>
              </a:rPr>
              <a:t>テスト間で状態を共有しない</a:t>
            </a:r>
            <a:endParaRPr lang="en-US" sz="1300" dirty="0"/>
          </a:p>
        </p:txBody>
      </p:sp>
      <p:pic>
        <p:nvPicPr>
          <p:cNvPr id="8" name="Image 1" descr="preencoded.png">    </p:cNvPr>
          <p:cNvPicPr>
            <a:picLocks noChangeAspect="1"/>
          </p:cNvPicPr>
          <p:nvPr/>
        </p:nvPicPr>
        <p:blipFill>
          <a:blip r:embed="rId2"/>
          <a:stretch>
            <a:fillRect/>
          </a:stretch>
        </p:blipFill>
        <p:spPr>
          <a:xfrm>
            <a:off x="4663440" y="1005840"/>
            <a:ext cx="365760" cy="365760"/>
          </a:xfrm>
          <a:prstGeom prst="rect">
            <a:avLst/>
          </a:prstGeom>
        </p:spPr>
      </p:pic>
      <p:sp>
        <p:nvSpPr>
          <p:cNvPr id="9" name="Text 5"/>
          <p:cNvSpPr/>
          <p:nvPr/>
        </p:nvSpPr>
        <p:spPr>
          <a:xfrm>
            <a:off x="5120640" y="960120"/>
            <a:ext cx="3657600" cy="457200"/>
          </a:xfrm>
          <a:prstGeom prst="rect">
            <a:avLst/>
          </a:prstGeom>
          <a:noFill/>
          <a:ln/>
        </p:spPr>
        <p:txBody>
          <a:bodyPr wrap="square" rtlCol="0" anchor="ctr"/>
          <a:lstStyle/>
          <a:p>
            <a:pPr indent="0" marL="0">
              <a:buNone/>
            </a:pPr>
            <a:r>
              <a:rPr lang="en-US" sz="1800" b="1" dirty="0">
                <a:solidFill>
                  <a:srgbClr val="00A7E1"/>
                </a:solidFill>
              </a:rPr>
              <a:t>CI組み込み</a:t>
            </a:r>
            <a:endParaRPr lang="en-US" sz="1800" dirty="0"/>
          </a:p>
        </p:txBody>
      </p:sp>
      <p:sp>
        <p:nvSpPr>
          <p:cNvPr id="10" name="Text 6"/>
          <p:cNvSpPr/>
          <p:nvPr/>
        </p:nvSpPr>
        <p:spPr>
          <a:xfrm>
            <a:off x="4846320" y="1463040"/>
            <a:ext cx="3840480" cy="365760"/>
          </a:xfrm>
          <a:prstGeom prst="rect">
            <a:avLst/>
          </a:prstGeom>
          <a:noFill/>
          <a:ln/>
        </p:spPr>
        <p:txBody>
          <a:bodyPr wrap="square" rtlCol="0" anchor="ctr"/>
          <a:lstStyle/>
          <a:p>
            <a:pPr indent="0" marL="0">
              <a:buNone/>
            </a:pPr>
            <a:r>
              <a:rPr lang="en-US" sz="1300" b="1" dirty="0">
                <a:solidFill>
                  <a:srgbClr val="00A7E1"/>
                </a:solidFill>
              </a:rPr>
              <a:t>• </a:t>
            </a:r>
            <a:pPr indent="0" marL="0">
              <a:buNone/>
            </a:pPr>
            <a:r>
              <a:rPr lang="en-US" sz="1300" dirty="0">
                <a:solidFill>
                  <a:srgbClr val="333333"/>
                </a:solidFill>
              </a:rPr>
              <a:t>自動テスト実行 &amp; 安定性確認</a:t>
            </a:r>
            <a:endParaRPr lang="en-US" sz="1300" dirty="0"/>
          </a:p>
        </p:txBody>
      </p:sp>
      <p:sp>
        <p:nvSpPr>
          <p:cNvPr id="11" name="Text 7"/>
          <p:cNvSpPr/>
          <p:nvPr/>
        </p:nvSpPr>
        <p:spPr>
          <a:xfrm>
            <a:off x="4846320" y="1783080"/>
            <a:ext cx="3840480" cy="365760"/>
          </a:xfrm>
          <a:prstGeom prst="rect">
            <a:avLst/>
          </a:prstGeom>
          <a:noFill/>
          <a:ln/>
        </p:spPr>
        <p:txBody>
          <a:bodyPr wrap="square" rtlCol="0" anchor="ctr"/>
          <a:lstStyle/>
          <a:p>
            <a:pPr indent="0" marL="0">
              <a:buNone/>
            </a:pPr>
            <a:r>
              <a:rPr lang="en-US" sz="1300" b="1" dirty="0">
                <a:solidFill>
                  <a:srgbClr val="00A7E1"/>
                </a:solidFill>
              </a:rPr>
              <a:t>• </a:t>
            </a:r>
            <a:pPr indent="0" marL="0">
              <a:buNone/>
            </a:pPr>
            <a:r>
              <a:rPr lang="en-US" sz="1300" dirty="0">
                <a:solidFill>
                  <a:srgbClr val="333333"/>
                </a:solidFill>
              </a:rPr>
              <a:t>カバレッジ計測: 重要処理を重視</a:t>
            </a:r>
            <a:endParaRPr lang="en-US" sz="1300" dirty="0"/>
          </a:p>
        </p:txBody>
      </p:sp>
      <p:sp>
        <p:nvSpPr>
          <p:cNvPr id="12" name="Text 8"/>
          <p:cNvSpPr/>
          <p:nvPr/>
        </p:nvSpPr>
        <p:spPr>
          <a:xfrm>
            <a:off x="4846320" y="2103120"/>
            <a:ext cx="3840480" cy="365760"/>
          </a:xfrm>
          <a:prstGeom prst="rect">
            <a:avLst/>
          </a:prstGeom>
          <a:noFill/>
          <a:ln/>
        </p:spPr>
        <p:txBody>
          <a:bodyPr wrap="square" rtlCol="0" anchor="ctr"/>
          <a:lstStyle/>
          <a:p>
            <a:pPr indent="0" marL="0">
              <a:buNone/>
            </a:pPr>
            <a:r>
              <a:rPr lang="en-US" sz="1300" b="1" dirty="0">
                <a:solidFill>
                  <a:srgbClr val="00A7E1"/>
                </a:solidFill>
              </a:rPr>
              <a:t>• </a:t>
            </a:r>
            <a:pPr indent="0" marL="0">
              <a:buNone/>
            </a:pPr>
            <a:r>
              <a:rPr lang="en-US" sz="1300" dirty="0">
                <a:solidFill>
                  <a:srgbClr val="333333"/>
                </a:solidFill>
              </a:rPr>
              <a:t>静的解析を段階導入</a:t>
            </a:r>
            <a:endParaRPr lang="en-US" sz="1300" dirty="0"/>
          </a:p>
        </p:txBody>
      </p:sp>
      <p:sp>
        <p:nvSpPr>
          <p:cNvPr id="13" name="Text 9"/>
          <p:cNvSpPr/>
          <p:nvPr/>
        </p:nvSpPr>
        <p:spPr>
          <a:xfrm>
            <a:off x="4846320" y="2423160"/>
            <a:ext cx="3840480" cy="365760"/>
          </a:xfrm>
          <a:prstGeom prst="rect">
            <a:avLst/>
          </a:prstGeom>
          <a:noFill/>
          <a:ln/>
        </p:spPr>
        <p:txBody>
          <a:bodyPr wrap="square" rtlCol="0" anchor="ctr"/>
          <a:lstStyle/>
          <a:p>
            <a:pPr indent="0" marL="0">
              <a:buNone/>
            </a:pPr>
            <a:r>
              <a:rPr lang="en-US" sz="1300" b="1" dirty="0">
                <a:solidFill>
                  <a:srgbClr val="00A7E1"/>
                </a:solidFill>
              </a:rPr>
              <a:t>• </a:t>
            </a:r>
            <a:pPr indent="0" marL="0">
              <a:buNone/>
            </a:pPr>
            <a:r>
              <a:rPr lang="en-US" sz="1300" dirty="0">
                <a:solidFill>
                  <a:srgbClr val="333333"/>
                </a:solidFill>
              </a:rPr>
              <a:t>品質ゲートとして活用</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365760" y="274320"/>
            <a:ext cx="8229600" cy="548640"/>
          </a:xfrm>
          <a:prstGeom prst="rect">
            <a:avLst/>
          </a:prstGeom>
          <a:noFill/>
          <a:ln/>
        </p:spPr>
        <p:txBody>
          <a:bodyPr wrap="square" rtlCol="0" anchor="ctr"/>
          <a:lstStyle/>
          <a:p>
            <a:pPr indent="0" marL="0">
              <a:buNone/>
            </a:pPr>
            <a:r>
              <a:rPr lang="en-US" sz="2400" b="1" dirty="0">
                <a:solidFill>
                  <a:srgbClr val="083D77"/>
                </a:solidFill>
              </a:rPr>
              <a:t>導入ステップ</a:t>
            </a:r>
            <a:endParaRPr lang="en-US" sz="2400" dirty="0"/>
          </a:p>
        </p:txBody>
      </p:sp>
      <p:sp>
        <p:nvSpPr>
          <p:cNvPr id="3" name="Shape 1"/>
          <p:cNvSpPr/>
          <p:nvPr/>
        </p:nvSpPr>
        <p:spPr>
          <a:xfrm>
            <a:off x="548640" y="1645920"/>
            <a:ext cx="731520" cy="731520"/>
          </a:xfrm>
          <a:prstGeom prst="ellipse">
            <a:avLst/>
          </a:prstGeom>
          <a:solidFill>
            <a:srgbClr val="00A7E1"/>
          </a:solidFill>
          <a:ln w="12700">
            <a:solidFill>
              <a:srgbClr val="00A7E1"/>
            </a:solidFill>
            <a:prstDash val="solid"/>
          </a:ln>
        </p:spPr>
        <p:txBody>
          <a:bodyPr/>
          <a:p/>
        </p:txBody>
      </p:sp>
      <p:sp>
        <p:nvSpPr>
          <p:cNvPr id="4" name="Text 2"/>
          <p:cNvSpPr/>
          <p:nvPr/>
        </p:nvSpPr>
        <p:spPr>
          <a:xfrm>
            <a:off x="548640" y="1645920"/>
            <a:ext cx="731520" cy="731520"/>
          </a:xfrm>
          <a:prstGeom prst="rect">
            <a:avLst/>
          </a:prstGeom>
          <a:noFill/>
          <a:ln/>
        </p:spPr>
        <p:txBody>
          <a:bodyPr wrap="square" rtlCol="0" anchor="ctr"/>
          <a:lstStyle/>
          <a:p>
            <a:pPr algn="ctr" indent="0" marL="0">
              <a:buNone/>
            </a:pPr>
            <a:r>
              <a:rPr lang="en-US" sz="1400" b="1" dirty="0">
                <a:solidFill>
                  <a:srgbClr val="F7F9FB"/>
                </a:solidFill>
              </a:rPr>
              <a:t>1</a:t>
            </a:r>
            <a:endParaRPr lang="en-US" sz="1400" dirty="0"/>
          </a:p>
        </p:txBody>
      </p:sp>
      <p:sp>
        <p:nvSpPr>
          <p:cNvPr id="5" name="Text 3"/>
          <p:cNvSpPr/>
          <p:nvPr/>
        </p:nvSpPr>
        <p:spPr>
          <a:xfrm>
            <a:off x="0" y="2377440"/>
            <a:ext cx="1828800" cy="548640"/>
          </a:xfrm>
          <a:prstGeom prst="rect">
            <a:avLst/>
          </a:prstGeom>
          <a:noFill/>
          <a:ln/>
        </p:spPr>
        <p:txBody>
          <a:bodyPr wrap="square" rtlCol="0" anchor="ctr"/>
          <a:lstStyle/>
          <a:p>
            <a:pPr algn="ctr" indent="0" marL="0">
              <a:buNone/>
            </a:pPr>
            <a:r>
              <a:rPr lang="en-US" sz="1200" dirty="0">
                <a:solidFill>
                  <a:srgbClr val="333333"/>
                </a:solidFill>
              </a:rPr>
              <a:t>対象機能選定</a:t>
            </a:r>
            <a:endParaRPr lang="en-US" sz="1200" dirty="0"/>
          </a:p>
        </p:txBody>
      </p:sp>
      <p:sp>
        <p:nvSpPr>
          <p:cNvPr id="6" name="Shape 4"/>
          <p:cNvSpPr/>
          <p:nvPr/>
        </p:nvSpPr>
        <p:spPr>
          <a:xfrm>
            <a:off x="1325880" y="2103120"/>
            <a:ext cx="640080" cy="137160"/>
          </a:xfrm>
          <a:prstGeom prst="rightArrow">
            <a:avLst/>
          </a:prstGeom>
          <a:solidFill>
            <a:srgbClr val="083D77"/>
          </a:solidFill>
          <a:ln w="12700">
            <a:solidFill>
              <a:srgbClr val="083D77"/>
            </a:solidFill>
            <a:prstDash val="solid"/>
          </a:ln>
        </p:spPr>
        <p:txBody>
          <a:bodyPr/>
          <a:p/>
        </p:txBody>
      </p:sp>
      <p:sp>
        <p:nvSpPr>
          <p:cNvPr id="7" name="Shape 5"/>
          <p:cNvSpPr/>
          <p:nvPr/>
        </p:nvSpPr>
        <p:spPr>
          <a:xfrm>
            <a:off x="2834640" y="1645920"/>
            <a:ext cx="731520" cy="731520"/>
          </a:xfrm>
          <a:prstGeom prst="ellipse">
            <a:avLst/>
          </a:prstGeom>
          <a:solidFill>
            <a:srgbClr val="00A7E1"/>
          </a:solidFill>
          <a:ln w="12700">
            <a:solidFill>
              <a:srgbClr val="00A7E1"/>
            </a:solidFill>
            <a:prstDash val="solid"/>
          </a:ln>
        </p:spPr>
        <p:txBody>
          <a:bodyPr/>
          <a:p/>
        </p:txBody>
      </p:sp>
      <p:sp>
        <p:nvSpPr>
          <p:cNvPr id="8" name="Text 6"/>
          <p:cNvSpPr/>
          <p:nvPr/>
        </p:nvSpPr>
        <p:spPr>
          <a:xfrm>
            <a:off x="2834640" y="1645920"/>
            <a:ext cx="731520" cy="731520"/>
          </a:xfrm>
          <a:prstGeom prst="rect">
            <a:avLst/>
          </a:prstGeom>
          <a:noFill/>
          <a:ln/>
        </p:spPr>
        <p:txBody>
          <a:bodyPr wrap="square" rtlCol="0" anchor="ctr"/>
          <a:lstStyle/>
          <a:p>
            <a:pPr algn="ctr" indent="0" marL="0">
              <a:buNone/>
            </a:pPr>
            <a:r>
              <a:rPr lang="en-US" sz="1400" b="1" dirty="0">
                <a:solidFill>
                  <a:srgbClr val="F7F9FB"/>
                </a:solidFill>
              </a:rPr>
              <a:t>2</a:t>
            </a:r>
            <a:endParaRPr lang="en-US" sz="1400" dirty="0"/>
          </a:p>
        </p:txBody>
      </p:sp>
      <p:sp>
        <p:nvSpPr>
          <p:cNvPr id="9" name="Text 7"/>
          <p:cNvSpPr/>
          <p:nvPr/>
        </p:nvSpPr>
        <p:spPr>
          <a:xfrm>
            <a:off x="2286000" y="2377440"/>
            <a:ext cx="1828800" cy="548640"/>
          </a:xfrm>
          <a:prstGeom prst="rect">
            <a:avLst/>
          </a:prstGeom>
          <a:noFill/>
          <a:ln/>
        </p:spPr>
        <p:txBody>
          <a:bodyPr wrap="square" rtlCol="0" anchor="ctr"/>
          <a:lstStyle/>
          <a:p>
            <a:pPr algn="ctr" indent="0" marL="0">
              <a:buNone/>
            </a:pPr>
            <a:r>
              <a:rPr lang="en-US" sz="1200" dirty="0">
                <a:solidFill>
                  <a:srgbClr val="333333"/>
                </a:solidFill>
              </a:rPr>
              <a:t>環境準備 (H2, DDL)</a:t>
            </a:r>
            <a:endParaRPr lang="en-US" sz="1200" dirty="0"/>
          </a:p>
        </p:txBody>
      </p:sp>
      <p:sp>
        <p:nvSpPr>
          <p:cNvPr id="10" name="Shape 8"/>
          <p:cNvSpPr/>
          <p:nvPr/>
        </p:nvSpPr>
        <p:spPr>
          <a:xfrm>
            <a:off x="3611880" y="2103120"/>
            <a:ext cx="640080" cy="137160"/>
          </a:xfrm>
          <a:prstGeom prst="rightArrow">
            <a:avLst/>
          </a:prstGeom>
          <a:solidFill>
            <a:srgbClr val="083D77"/>
          </a:solidFill>
          <a:ln w="12700">
            <a:solidFill>
              <a:srgbClr val="083D77"/>
            </a:solidFill>
            <a:prstDash val="solid"/>
          </a:ln>
        </p:spPr>
        <p:txBody>
          <a:bodyPr/>
          <a:p/>
        </p:txBody>
      </p:sp>
      <p:sp>
        <p:nvSpPr>
          <p:cNvPr id="11" name="Shape 9"/>
          <p:cNvSpPr/>
          <p:nvPr/>
        </p:nvSpPr>
        <p:spPr>
          <a:xfrm>
            <a:off x="5120640" y="1645920"/>
            <a:ext cx="731520" cy="731520"/>
          </a:xfrm>
          <a:prstGeom prst="ellipse">
            <a:avLst/>
          </a:prstGeom>
          <a:solidFill>
            <a:srgbClr val="00A7E1"/>
          </a:solidFill>
          <a:ln w="12700">
            <a:solidFill>
              <a:srgbClr val="00A7E1"/>
            </a:solidFill>
            <a:prstDash val="solid"/>
          </a:ln>
        </p:spPr>
        <p:txBody>
          <a:bodyPr/>
          <a:p/>
        </p:txBody>
      </p:sp>
      <p:sp>
        <p:nvSpPr>
          <p:cNvPr id="12" name="Text 10"/>
          <p:cNvSpPr/>
          <p:nvPr/>
        </p:nvSpPr>
        <p:spPr>
          <a:xfrm>
            <a:off x="5120640" y="1645920"/>
            <a:ext cx="731520" cy="731520"/>
          </a:xfrm>
          <a:prstGeom prst="rect">
            <a:avLst/>
          </a:prstGeom>
          <a:noFill/>
          <a:ln/>
        </p:spPr>
        <p:txBody>
          <a:bodyPr wrap="square" rtlCol="0" anchor="ctr"/>
          <a:lstStyle/>
          <a:p>
            <a:pPr algn="ctr" indent="0" marL="0">
              <a:buNone/>
            </a:pPr>
            <a:r>
              <a:rPr lang="en-US" sz="1400" b="1" dirty="0">
                <a:solidFill>
                  <a:srgbClr val="F7F9FB"/>
                </a:solidFill>
              </a:rPr>
              <a:t>3</a:t>
            </a:r>
            <a:endParaRPr lang="en-US" sz="1400" dirty="0"/>
          </a:p>
        </p:txBody>
      </p:sp>
      <p:sp>
        <p:nvSpPr>
          <p:cNvPr id="13" name="Text 11"/>
          <p:cNvSpPr/>
          <p:nvPr/>
        </p:nvSpPr>
        <p:spPr>
          <a:xfrm>
            <a:off x="4572000" y="2377440"/>
            <a:ext cx="1828800" cy="548640"/>
          </a:xfrm>
          <a:prstGeom prst="rect">
            <a:avLst/>
          </a:prstGeom>
          <a:noFill/>
          <a:ln/>
        </p:spPr>
        <p:txBody>
          <a:bodyPr wrap="square" rtlCol="0" anchor="ctr"/>
          <a:lstStyle/>
          <a:p>
            <a:pPr algn="ctr" indent="0" marL="0">
              <a:buNone/>
            </a:pPr>
            <a:r>
              <a:rPr lang="en-US" sz="1200" dirty="0">
                <a:solidFill>
                  <a:srgbClr val="333333"/>
                </a:solidFill>
              </a:rPr>
              <a:t>Builder/Fixture 作成</a:t>
            </a:r>
            <a:endParaRPr lang="en-US" sz="1200" dirty="0"/>
          </a:p>
        </p:txBody>
      </p:sp>
      <p:sp>
        <p:nvSpPr>
          <p:cNvPr id="14" name="Shape 12"/>
          <p:cNvSpPr/>
          <p:nvPr/>
        </p:nvSpPr>
        <p:spPr>
          <a:xfrm>
            <a:off x="5897880" y="2103120"/>
            <a:ext cx="640080" cy="137160"/>
          </a:xfrm>
          <a:prstGeom prst="rightArrow">
            <a:avLst/>
          </a:prstGeom>
          <a:solidFill>
            <a:srgbClr val="083D77"/>
          </a:solidFill>
          <a:ln w="12700">
            <a:solidFill>
              <a:srgbClr val="083D77"/>
            </a:solidFill>
            <a:prstDash val="solid"/>
          </a:ln>
        </p:spPr>
        <p:txBody>
          <a:bodyPr/>
          <a:p/>
        </p:txBody>
      </p:sp>
      <p:sp>
        <p:nvSpPr>
          <p:cNvPr id="15" name="Shape 13"/>
          <p:cNvSpPr/>
          <p:nvPr/>
        </p:nvSpPr>
        <p:spPr>
          <a:xfrm>
            <a:off x="7406640" y="1645920"/>
            <a:ext cx="731520" cy="731520"/>
          </a:xfrm>
          <a:prstGeom prst="ellipse">
            <a:avLst/>
          </a:prstGeom>
          <a:solidFill>
            <a:srgbClr val="00A7E1"/>
          </a:solidFill>
          <a:ln w="12700">
            <a:solidFill>
              <a:srgbClr val="00A7E1"/>
            </a:solidFill>
            <a:prstDash val="solid"/>
          </a:ln>
        </p:spPr>
        <p:txBody>
          <a:bodyPr/>
          <a:p/>
        </p:txBody>
      </p:sp>
      <p:sp>
        <p:nvSpPr>
          <p:cNvPr id="16" name="Text 14"/>
          <p:cNvSpPr/>
          <p:nvPr/>
        </p:nvSpPr>
        <p:spPr>
          <a:xfrm>
            <a:off x="7406640" y="1645920"/>
            <a:ext cx="731520" cy="731520"/>
          </a:xfrm>
          <a:prstGeom prst="rect">
            <a:avLst/>
          </a:prstGeom>
          <a:noFill/>
          <a:ln/>
        </p:spPr>
        <p:txBody>
          <a:bodyPr wrap="square" rtlCol="0" anchor="ctr"/>
          <a:lstStyle/>
          <a:p>
            <a:pPr algn="ctr" indent="0" marL="0">
              <a:buNone/>
            </a:pPr>
            <a:r>
              <a:rPr lang="en-US" sz="1400" b="1" dirty="0">
                <a:solidFill>
                  <a:srgbClr val="F7F9FB"/>
                </a:solidFill>
              </a:rPr>
              <a:t>4</a:t>
            </a:r>
            <a:endParaRPr lang="en-US" sz="1400" dirty="0"/>
          </a:p>
        </p:txBody>
      </p:sp>
      <p:sp>
        <p:nvSpPr>
          <p:cNvPr id="17" name="Text 15"/>
          <p:cNvSpPr/>
          <p:nvPr/>
        </p:nvSpPr>
        <p:spPr>
          <a:xfrm>
            <a:off x="6858000" y="2377440"/>
            <a:ext cx="1828800" cy="548640"/>
          </a:xfrm>
          <a:prstGeom prst="rect">
            <a:avLst/>
          </a:prstGeom>
          <a:noFill/>
          <a:ln/>
        </p:spPr>
        <p:txBody>
          <a:bodyPr wrap="square" rtlCol="0" anchor="ctr"/>
          <a:lstStyle/>
          <a:p>
            <a:pPr algn="ctr" indent="0" marL="0">
              <a:buNone/>
            </a:pPr>
            <a:r>
              <a:rPr lang="en-US" sz="1200" dirty="0">
                <a:solidFill>
                  <a:srgbClr val="333333"/>
                </a:solidFill>
              </a:rPr>
              <a:t>テスト作成 &amp; CI連携</a:t>
            </a:r>
            <a:endParaRPr lang="en-US" sz="1200" dirty="0"/>
          </a:p>
        </p:txBody>
      </p:sp>
      <p:sp>
        <p:nvSpPr>
          <p:cNvPr id="18" name="Text 16"/>
          <p:cNvSpPr/>
          <p:nvPr/>
        </p:nvSpPr>
        <p:spPr>
          <a:xfrm>
            <a:off x="731520" y="3840480"/>
            <a:ext cx="7772400" cy="731520"/>
          </a:xfrm>
          <a:prstGeom prst="rect">
            <a:avLst/>
          </a:prstGeom>
          <a:noFill/>
          <a:ln/>
        </p:spPr>
        <p:txBody>
          <a:bodyPr wrap="square" rtlCol="0" anchor="ctr"/>
          <a:lstStyle/>
          <a:p>
            <a:pPr indent="0" marL="0">
              <a:buNone/>
            </a:pPr>
            <a:r>
              <a:rPr lang="en-US" sz="1400" b="1" dirty="0">
                <a:solidFill>
                  <a:srgbClr val="00A7E1"/>
                </a:solidFill>
              </a:rPr>
              <a:t>5. カバレッジ確認と修正
</a:t>
            </a:r>
            <a:pPr indent="0" marL="0">
              <a:buNone/>
            </a:pPr>
            <a:r>
              <a:rPr lang="en-US" sz="1400" dirty="0">
                <a:solidFill>
                  <a:srgbClr val="333333"/>
                </a:solidFill>
              </a:rPr>
              <a:t>6. 重要機能へ展開し改善を継続</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365760" y="274320"/>
            <a:ext cx="8229600" cy="548640"/>
          </a:xfrm>
          <a:prstGeom prst="rect">
            <a:avLst/>
          </a:prstGeom>
          <a:noFill/>
          <a:ln/>
        </p:spPr>
        <p:txBody>
          <a:bodyPr wrap="square" rtlCol="0" anchor="ctr"/>
          <a:lstStyle/>
          <a:p>
            <a:pPr indent="0" marL="0">
              <a:buNone/>
            </a:pPr>
            <a:r>
              <a:rPr lang="en-US" sz="2400" b="1" dirty="0">
                <a:solidFill>
                  <a:srgbClr val="083D77"/>
                </a:solidFill>
              </a:rPr>
              <a:t>AI向けプロンプト</a:t>
            </a:r>
            <a:endParaRPr lang="en-US" sz="2400" dirty="0"/>
          </a:p>
        </p:txBody>
      </p:sp>
      <p:pic>
        <p:nvPicPr>
          <p:cNvPr id="3" name="Image 0" descr="preencoded.png">    </p:cNvPr>
          <p:cNvPicPr>
            <a:picLocks noChangeAspect="1"/>
          </p:cNvPicPr>
          <p:nvPr/>
        </p:nvPicPr>
        <p:blipFill>
          <a:blip r:embed="rId1"/>
          <a:stretch>
            <a:fillRect/>
          </a:stretch>
        </p:blipFill>
        <p:spPr>
          <a:xfrm>
            <a:off x="365760" y="914400"/>
            <a:ext cx="457200" cy="457200"/>
          </a:xfrm>
          <a:prstGeom prst="rect">
            <a:avLst/>
          </a:prstGeom>
        </p:spPr>
      </p:pic>
      <p:sp>
        <p:nvSpPr>
          <p:cNvPr id="4" name="Text 1"/>
          <p:cNvSpPr/>
          <p:nvPr/>
        </p:nvSpPr>
        <p:spPr>
          <a:xfrm>
            <a:off x="1005840" y="914400"/>
            <a:ext cx="7772400" cy="2377440"/>
          </a:xfrm>
          <a:prstGeom prst="rect">
            <a:avLst/>
          </a:prstGeom>
          <a:noFill/>
          <a:ln/>
        </p:spPr>
        <p:txBody>
          <a:bodyPr wrap="square" rtlCol="0" anchor="ctr"/>
          <a:lstStyle/>
          <a:p>
            <a:pPr indent="0" marL="0">
              <a:buNone/>
            </a:pPr>
            <a:r>
              <a:rPr lang="en-US" sz="1600" b="1" dirty="0">
                <a:solidFill>
                  <a:srgbClr val="00A7E1"/>
                </a:solidFill>
              </a:rPr>
              <a:t>指示のポイント:
</a:t>
            </a:r>
            <a:pPr indent="0" marL="0">
              <a:buNone/>
            </a:pPr>
            <a:r>
              <a:rPr lang="en-US" sz="1400" dirty="0">
                <a:solidFill>
                  <a:srgbClr val="333333"/>
                </a:solidFill>
              </a:rPr>
              <a:t>• JUnit4 + S2Junit で実装
</a:t>
            </a:r>
            <a:pPr indent="0" marL="0">
              <a:buNone/>
            </a:pPr>
            <a:r>
              <a:rPr lang="en-US" sz="1400" dirty="0">
                <a:solidFill>
                  <a:srgbClr val="333333"/>
                </a:solidFill>
              </a:rPr>
              <a:t>• Daoや外部依存はEasyMockでモック
</a:t>
            </a:r>
            <a:pPr indent="0" marL="0">
              <a:buNone/>
            </a:pPr>
            <a:r>
              <a:rPr lang="en-US" sz="1400" dirty="0">
                <a:solidFill>
                  <a:srgbClr val="333333"/>
                </a:solidFill>
              </a:rPr>
              <a:t>• テストメソッド名は条件/期待結果を含む
</a:t>
            </a:r>
            <a:pPr indent="0" marL="0">
              <a:buNone/>
            </a:pPr>
            <a:r>
              <a:rPr lang="en-US" sz="1400" dirty="0">
                <a:solidFill>
                  <a:srgbClr val="333333"/>
                </a:solidFill>
              </a:rPr>
              <a:t>• Given/When/Then コメントを記述
</a:t>
            </a:r>
            <a:pPr indent="0" marL="0">
              <a:buNone/>
            </a:pPr>
            <a:r>
              <a:rPr lang="en-US" sz="1400" dirty="0">
                <a:solidFill>
                  <a:srgbClr val="333333"/>
                </a:solidFill>
              </a:rPr>
              <a:t>• Excelは使用禁止、必要ならBuilder/Fixture/SQLを使う
</a:t>
            </a:r>
            <a:endParaRPr lang="en-US" sz="1600" dirty="0"/>
          </a:p>
        </p:txBody>
      </p:sp>
      <p:sp>
        <p:nvSpPr>
          <p:cNvPr id="5" name="Shape 2"/>
          <p:cNvSpPr/>
          <p:nvPr/>
        </p:nvSpPr>
        <p:spPr>
          <a:xfrm>
            <a:off x="457200" y="3383280"/>
            <a:ext cx="8229600" cy="1371600"/>
          </a:xfrm>
          <a:prstGeom prst="roundRect">
            <a:avLst>
              <a:gd name="adj" fmla="val 3333"/>
            </a:avLst>
          </a:prstGeom>
          <a:solidFill>
            <a:srgbClr val="F7F9FB"/>
          </a:solidFill>
          <a:ln w="12700">
            <a:solidFill>
              <a:srgbClr val="00A7E1"/>
            </a:solidFill>
            <a:prstDash val="solid"/>
          </a:ln>
        </p:spPr>
        <p:txBody>
          <a:bodyPr/>
          <a:p/>
        </p:txBody>
      </p:sp>
      <p:sp>
        <p:nvSpPr>
          <p:cNvPr id="6" name="Text 3"/>
          <p:cNvSpPr/>
          <p:nvPr/>
        </p:nvSpPr>
        <p:spPr>
          <a:xfrm>
            <a:off x="502920" y="3429000"/>
            <a:ext cx="8138160" cy="1280160"/>
          </a:xfrm>
          <a:prstGeom prst="rect">
            <a:avLst/>
          </a:prstGeom>
          <a:noFill/>
          <a:ln/>
        </p:spPr>
        <p:txBody>
          <a:bodyPr wrap="square" rtlCol="0" anchor="ctr"/>
          <a:lstStyle/>
          <a:p>
            <a:pPr indent="0" marL="0">
              <a:buNone/>
            </a:pPr>
            <a:r>
              <a:rPr lang="en-US" sz="1200" dirty="0">
                <a:solidFill>
                  <a:srgbClr val="333333"/>
                </a:solidFill>
              </a:rPr>
              <a:t>例:</a:t>
            </a:r>
            <a:endParaRPr lang="en-US" sz="1200" dirty="0"/>
          </a:p>
          <a:p>
            <a:pPr indent="0" marL="0">
              <a:buNone/>
            </a:pPr>
            <a:r>
              <a:rPr lang="en-US" sz="1200" dirty="0">
                <a:solidFill>
                  <a:srgbClr val="333333"/>
                </a:solidFill>
              </a:rPr>
              <a:t>対象: XxxLogic.approveXxx</a:t>
            </a:r>
            <a:endParaRPr lang="en-US" sz="1200" dirty="0"/>
          </a:p>
          <a:p>
            <a:pPr indent="0" marL="0">
              <a:buNone/>
            </a:pPr>
            <a:r>
              <a:rPr lang="en-US" sz="1200" dirty="0">
                <a:solidFill>
                  <a:srgbClr val="333333"/>
                </a:solidFill>
              </a:rPr>
              <a:t>testApproveXxx_WhenStatusIsUnapproved_ThenStatusBecomesApproved</a:t>
            </a:r>
            <a:endParaRPr lang="en-US" sz="1200" dirty="0"/>
          </a:p>
          <a:p>
            <a:pPr indent="0" marL="0">
              <a:buNone/>
            </a:pPr>
            <a:r>
              <a:rPr lang="en-US" sz="1200" dirty="0">
                <a:solidFill>
                  <a:srgbClr val="333333"/>
                </a:solidFill>
              </a:rPr>
              <a:t>Given: 未承認状態のデータをFixtureで用意</a:t>
            </a:r>
            <a:endParaRPr lang="en-US" sz="1200" dirty="0"/>
          </a:p>
          <a:p>
            <a:pPr indent="0" marL="0">
              <a:buNone/>
            </a:pPr>
            <a:r>
              <a:rPr lang="en-US" sz="1200" dirty="0">
                <a:solidFill>
                  <a:srgbClr val="333333"/>
                </a:solidFill>
              </a:rPr>
              <a:t>When: approveXxxを呼び出す</a:t>
            </a:r>
            <a:endParaRPr lang="en-US" sz="1200" dirty="0"/>
          </a:p>
          <a:p>
            <a:pPr indent="0" marL="0">
              <a:buNone/>
            </a:pPr>
            <a:r>
              <a:rPr lang="en-US" sz="1200" dirty="0">
                <a:solidFill>
                  <a:srgbClr val="333333"/>
                </a:solidFill>
              </a:rPr>
              <a:t>Then: ステータスが承認済み、承認日時が現在日時となることを検証</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B"/>
        </a:solidFill>
      </p:bgPr>
    </p:bg>
    <p:spTree>
      <p:nvGrpSpPr>
        <p:cNvPr id="1" name=""/>
        <p:cNvGrpSpPr/>
        <p:nvPr/>
      </p:nvGrpSpPr>
      <p:grpSpPr>
        <a:xfrm>
          <a:off x="0" y="0"/>
          <a:ext cx="0" cy="0"/>
          <a:chOff x="0" y="0"/>
          <a:chExt cx="0" cy="0"/>
        </a:xfrm>
      </p:grpSpPr>
      <p:sp>
        <p:nvSpPr>
          <p:cNvPr id="2" name="Text 0"/>
          <p:cNvSpPr/>
          <p:nvPr/>
        </p:nvSpPr>
        <p:spPr>
          <a:xfrm>
            <a:off x="365760" y="274320"/>
            <a:ext cx="8229600" cy="548640"/>
          </a:xfrm>
          <a:prstGeom prst="rect">
            <a:avLst/>
          </a:prstGeom>
          <a:noFill/>
          <a:ln/>
        </p:spPr>
        <p:txBody>
          <a:bodyPr wrap="square" rtlCol="0" anchor="ctr"/>
          <a:lstStyle/>
          <a:p>
            <a:pPr indent="0" marL="0">
              <a:buNone/>
            </a:pPr>
            <a:r>
              <a:rPr lang="en-US" sz="2400" b="1" dirty="0">
                <a:solidFill>
                  <a:srgbClr val="083D77"/>
                </a:solidFill>
              </a:rPr>
              <a:t>まとめ &amp; 次のステップ</a:t>
            </a:r>
            <a:endParaRPr lang="en-US" sz="2400" dirty="0"/>
          </a:p>
        </p:txBody>
      </p:sp>
      <p:pic>
        <p:nvPicPr>
          <p:cNvPr id="3" name="Image 0" descr="preencoded.png">    </p:cNvPr>
          <p:cNvPicPr>
            <a:picLocks noChangeAspect="1"/>
          </p:cNvPicPr>
          <p:nvPr/>
        </p:nvPicPr>
        <p:blipFill>
          <a:blip r:embed="rId1"/>
          <a:stretch>
            <a:fillRect/>
          </a:stretch>
        </p:blipFill>
        <p:spPr>
          <a:xfrm>
            <a:off x="365760" y="914400"/>
            <a:ext cx="457200" cy="457200"/>
          </a:xfrm>
          <a:prstGeom prst="rect">
            <a:avLst/>
          </a:prstGeom>
        </p:spPr>
      </p:pic>
      <p:sp>
        <p:nvSpPr>
          <p:cNvPr id="4" name="Text 1"/>
          <p:cNvSpPr/>
          <p:nvPr/>
        </p:nvSpPr>
        <p:spPr>
          <a:xfrm>
            <a:off x="1005840" y="914400"/>
            <a:ext cx="7772400" cy="1645920"/>
          </a:xfrm>
          <a:prstGeom prst="rect">
            <a:avLst/>
          </a:prstGeom>
          <a:noFill/>
          <a:ln/>
        </p:spPr>
        <p:txBody>
          <a:bodyPr wrap="square" rtlCol="0" anchor="ctr"/>
          <a:lstStyle/>
          <a:p>
            <a:pPr indent="0" marL="0">
              <a:buNone/>
            </a:pPr>
            <a:r>
              <a:rPr lang="en-US" sz="1600" b="1" dirty="0">
                <a:solidFill>
                  <a:srgbClr val="333333"/>
                </a:solidFill>
              </a:rPr>
              <a:t>効率的なテスト運用で品質を底上げ
</a:t>
            </a:r>
            <a:pPr indent="0" marL="0">
              <a:buNone/>
            </a:pPr>
            <a:r>
              <a:rPr lang="en-US" sz="1400" dirty="0">
                <a:solidFill>
                  <a:srgbClr val="333333"/>
                </a:solidFill>
              </a:rPr>
              <a:t>• レガシー環境でも段階的に導入可能
</a:t>
            </a:r>
            <a:pPr indent="0" marL="0">
              <a:buNone/>
            </a:pPr>
            <a:r>
              <a:rPr lang="en-US" sz="1400" dirty="0">
                <a:solidFill>
                  <a:srgbClr val="333333"/>
                </a:solidFill>
              </a:rPr>
              <a:t>• 開発チーム・上長・AIが共通ルールで協調
</a:t>
            </a:r>
            <a:pPr indent="0" marL="0">
              <a:buNone/>
            </a:pPr>
            <a:r>
              <a:rPr lang="en-US" sz="1400" dirty="0">
                <a:solidFill>
                  <a:srgbClr val="333333"/>
                </a:solidFill>
              </a:rPr>
              <a:t>• 振り返りと改善を繰り返し、カバレッジと品質を向上</a:t>
            </a:r>
            <a:endParaRPr lang="en-US" sz="1600" dirty="0"/>
          </a:p>
        </p:txBody>
      </p:sp>
      <p:sp>
        <p:nvSpPr>
          <p:cNvPr id="5" name="Text 2"/>
          <p:cNvSpPr/>
          <p:nvPr/>
        </p:nvSpPr>
        <p:spPr>
          <a:xfrm>
            <a:off x="365760" y="2743200"/>
            <a:ext cx="8229600" cy="365760"/>
          </a:xfrm>
          <a:prstGeom prst="rect">
            <a:avLst/>
          </a:prstGeom>
          <a:noFill/>
          <a:ln/>
        </p:spPr>
        <p:txBody>
          <a:bodyPr wrap="square" rtlCol="0" anchor="ctr"/>
          <a:lstStyle/>
          <a:p>
            <a:pPr indent="0" marL="0">
              <a:buNone/>
            </a:pPr>
            <a:r>
              <a:rPr lang="en-US" sz="1600" b="1" dirty="0">
                <a:solidFill>
                  <a:srgbClr val="00A7E1"/>
                </a:solidFill>
              </a:rPr>
              <a:t>次のステップ:</a:t>
            </a:r>
            <a:endParaRPr lang="en-US" sz="1600" dirty="0"/>
          </a:p>
        </p:txBody>
      </p:sp>
      <p:sp>
        <p:nvSpPr>
          <p:cNvPr id="6" name="Text 3"/>
          <p:cNvSpPr/>
          <p:nvPr/>
        </p:nvSpPr>
        <p:spPr>
          <a:xfrm>
            <a:off x="548640" y="3017520"/>
            <a:ext cx="8046720" cy="914400"/>
          </a:xfrm>
          <a:prstGeom prst="rect">
            <a:avLst/>
          </a:prstGeom>
          <a:noFill/>
          <a:ln/>
        </p:spPr>
        <p:txBody>
          <a:bodyPr wrap="square" rtlCol="0" anchor="ctr"/>
          <a:lstStyle/>
          <a:p>
            <a:pPr indent="0" marL="0">
              <a:buNone/>
            </a:pPr>
            <a:r>
              <a:rPr lang="en-US" sz="1400" dirty="0">
                <a:solidFill>
                  <a:srgbClr val="333333"/>
                </a:solidFill>
              </a:rPr>
              <a:t>• DB初期化方式の決定
</a:t>
            </a:r>
            <a:pPr indent="0" marL="0">
              <a:buNone/>
            </a:pPr>
            <a:r>
              <a:rPr lang="en-US" sz="1400" dirty="0">
                <a:solidFill>
                  <a:srgbClr val="333333"/>
                </a:solidFill>
              </a:rPr>
              <a:t>• 試験導入対象機能の選定
</a:t>
            </a:r>
            <a:pPr indent="0" marL="0">
              <a:buNone/>
            </a:pPr>
            <a:r>
              <a:rPr lang="en-US" sz="1400" dirty="0">
                <a:solidFill>
                  <a:srgbClr val="333333"/>
                </a:solidFill>
              </a:rPr>
              <a:t>• CIへの組み込み設定</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2026-06-13T03:59:09Z</dcterms:created>
  <dcterms:modified xsi:type="dcterms:W3CDTF">2026-06-13T03:59:09Z</dcterms:modified>
</cp:coreProperties>
</file>